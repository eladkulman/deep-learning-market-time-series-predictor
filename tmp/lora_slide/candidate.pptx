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6.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ce574ba63c49b9" /><Relationship Type="http://schemas.openxmlformats.org/officeDocument/2006/relationships/extended-properties" Target="/docProps/app.xml" Id="Rf9e76f0fa52d4cde" /><Relationship Type="http://schemas.openxmlformats.org/officeDocument/2006/relationships/officeDocument" Target="/ppt/presentation.xml" Id="R5aad6fab7b2849f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1025e388fd36418d"/>
  </p:sldMasterIdLst>
  <p:notesMasterIdLst>
    <p:notesMasterId xmlns:r="http://schemas.openxmlformats.org/officeDocument/2006/relationships" r:id="Rb14e45d91dee48b7"/>
  </p:notesMasterIdLst>
  <p:sldIdLst>
    <p:sldId xmlns:r="http://schemas.openxmlformats.org/officeDocument/2006/relationships" id="256" r:id="Rb5ce6e19041b48e5"/>
    <p:sldId xmlns:r="http://schemas.openxmlformats.org/officeDocument/2006/relationships" id="257" r:id="R2036ae2ba3994e22"/>
    <p:sldId xmlns:r="http://schemas.openxmlformats.org/officeDocument/2006/relationships" id="258" r:id="Ree2b718e85f44243"/>
    <p:sldId xmlns:r="http://schemas.openxmlformats.org/officeDocument/2006/relationships" id="259" r:id="R30b29eb00c8d4363"/>
    <p:sldId xmlns:r="http://schemas.openxmlformats.org/officeDocument/2006/relationships" id="260" r:id="R22d1659408ab4517"/>
    <p:sldId xmlns:r="http://schemas.openxmlformats.org/officeDocument/2006/relationships" id="261" r:id="Rb516193cad4e491b"/>
    <p:sldId xmlns:r="http://schemas.openxmlformats.org/officeDocument/2006/relationships" id="262" r:id="R0fe6646929424f3b"/>
    <p:sldId xmlns:r="http://schemas.openxmlformats.org/officeDocument/2006/relationships" id="263" r:id="R9d3666c499ee4b15"/>
    <p:sldId xmlns:r="http://schemas.openxmlformats.org/officeDocument/2006/relationships" id="264" r:id="R1d9268fe7ff04349"/>
    <p:sldId xmlns:r="http://schemas.openxmlformats.org/officeDocument/2006/relationships" id="265" r:id="Ra8d1b4bd57604fea"/>
    <p:sldId xmlns:r="http://schemas.openxmlformats.org/officeDocument/2006/relationships" id="266" r:id="R5a42b7449c584e4c"/>
    <p:sldId xmlns:r="http://schemas.openxmlformats.org/officeDocument/2006/relationships" id="267" r:id="R1948457c83004583"/>
    <p:sldId xmlns:r="http://schemas.openxmlformats.org/officeDocument/2006/relationships" id="268" r:id="R4d12d9a31e8d4de2"/>
    <p:sldId xmlns:r="http://schemas.openxmlformats.org/officeDocument/2006/relationships" id="269" r:id="R47726529d6944836"/>
    <p:sldId xmlns:r="http://schemas.openxmlformats.org/officeDocument/2006/relationships" id="270" r:id="Rc6bb8f73b3874c5c"/>
    <p:sldId xmlns:r="http://schemas.openxmlformats.org/officeDocument/2006/relationships" id="271" r:id="R6ec1652beb254e09"/>
    <p:sldId xmlns:r="http://schemas.openxmlformats.org/officeDocument/2006/relationships" id="272" r:id="rIdLoRA17"/>
  </p:sldIdLst>
  <p:sldSz cx="12192000" cy="6858000"/>
  <p:notesSz cx="6858000" cy="9144000"/>
  <p:embeddedFontLst>
    <p:embeddedFont>
      <p:font typeface="OpenAI Sans"/>
      <p:regular xmlns:r="http://schemas.openxmlformats.org/officeDocument/2006/relationships" r:id="Rd04458c2d0024947"/>
      <p:bold xmlns:r="http://schemas.openxmlformats.org/officeDocument/2006/relationships" r:id="R7bc207c63e4945ed"/>
      <p:italic xmlns:r="http://schemas.openxmlformats.org/officeDocument/2006/relationships" r:id="Re957e17261414b3a"/>
      <p:boldItalic xmlns:r="http://schemas.openxmlformats.org/officeDocument/2006/relationships" r:id="R2115703cbec847c9"/>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c59b648a9434a82" /><Relationship Type="http://schemas.openxmlformats.org/officeDocument/2006/relationships/slideMaster" Target="/ppt/slideMasters/slideMaster1.xml" Id="R1025e388fd36418d" /><Relationship Type="http://schemas.openxmlformats.org/officeDocument/2006/relationships/notesMaster" Target="/ppt/notesMasters/notesMaster1.xml" Id="Rb14e45d91dee48b7" /><Relationship Type="http://schemas.openxmlformats.org/officeDocument/2006/relationships/presProps" Target="/ppt/presProps.xml" Id="R2de15906357e40c0" /><Relationship Type="http://schemas.openxmlformats.org/officeDocument/2006/relationships/viewProps" Target="/ppt/viewProps.xml" Id="Rb396215e36724203" /><Relationship Type="http://schemas.openxmlformats.org/officeDocument/2006/relationships/tableStyles" Target="/ppt/tableStyles.xml" Id="Rcd6d5935ddc449b5" /><Relationship Type="http://schemas.openxmlformats.org/officeDocument/2006/relationships/font" Target="/ppt/fonts/font.dat" Id="Rd04458c2d0024947" /><Relationship Type="http://schemas.openxmlformats.org/officeDocument/2006/relationships/font" Target="/ppt/fonts/font2.dat" Id="R7bc207c63e4945ed" /><Relationship Type="http://schemas.openxmlformats.org/officeDocument/2006/relationships/font" Target="/ppt/fonts/font3.dat" Id="Re957e17261414b3a" /><Relationship Type="http://schemas.openxmlformats.org/officeDocument/2006/relationships/font" Target="/ppt/fonts/font4.dat" Id="R2115703cbec847c9" /><Relationship Type="http://schemas.openxmlformats.org/officeDocument/2006/relationships/slide" Target="/ppt/slides/slide1.xml" Id="Rb5ce6e19041b48e5" /><Relationship Type="http://schemas.openxmlformats.org/officeDocument/2006/relationships/slide" Target="/ppt/slides/slide2.xml" Id="R2036ae2ba3994e22" /><Relationship Type="http://schemas.openxmlformats.org/officeDocument/2006/relationships/slide" Target="/ppt/slides/slide3.xml" Id="Ree2b718e85f44243" /><Relationship Type="http://schemas.openxmlformats.org/officeDocument/2006/relationships/slide" Target="/ppt/slides/slide4.xml" Id="R30b29eb00c8d4363" /><Relationship Type="http://schemas.openxmlformats.org/officeDocument/2006/relationships/slide" Target="/ppt/slides/slide5.xml" Id="R22d1659408ab4517" /><Relationship Type="http://schemas.openxmlformats.org/officeDocument/2006/relationships/slide" Target="/ppt/slides/slide6.xml" Id="Rb516193cad4e491b" /><Relationship Type="http://schemas.openxmlformats.org/officeDocument/2006/relationships/slide" Target="/ppt/slides/slide7.xml" Id="R0fe6646929424f3b" /><Relationship Type="http://schemas.openxmlformats.org/officeDocument/2006/relationships/slide" Target="/ppt/slides/slide8.xml" Id="R9d3666c499ee4b15" /><Relationship Type="http://schemas.openxmlformats.org/officeDocument/2006/relationships/slide" Target="/ppt/slides/slide9.xml" Id="R1d9268fe7ff04349" /><Relationship Type="http://schemas.openxmlformats.org/officeDocument/2006/relationships/slide" Target="/ppt/slides/slide10.xml" Id="Ra8d1b4bd57604fea" /><Relationship Type="http://schemas.openxmlformats.org/officeDocument/2006/relationships/slide" Target="/ppt/slides/slide11.xml" Id="R5a42b7449c584e4c" /><Relationship Type="http://schemas.openxmlformats.org/officeDocument/2006/relationships/slide" Target="/ppt/slides/slide12.xml" Id="R1948457c83004583" /><Relationship Type="http://schemas.openxmlformats.org/officeDocument/2006/relationships/slide" Target="/ppt/slides/slide13.xml" Id="R4d12d9a31e8d4de2" /><Relationship Type="http://schemas.openxmlformats.org/officeDocument/2006/relationships/slide" Target="/ppt/slides/slide14.xml" Id="R47726529d6944836" /><Relationship Type="http://schemas.openxmlformats.org/officeDocument/2006/relationships/slide" Target="/ppt/slides/slide15.xml" Id="Rc6bb8f73b3874c5c" /><Relationship Type="http://schemas.openxmlformats.org/officeDocument/2006/relationships/slide" Target="/ppt/slides/slide16.xml" Id="R6ec1652beb254e09" /><Relationship Id="rIdLoRA17" Type="http://schemas.openxmlformats.org/officeDocument/2006/relationships/slide" Target="/ppt/slides/slide17.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a0fd548aa949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2a1f0010c944d8" /><Relationship Type="http://schemas.openxmlformats.org/officeDocument/2006/relationships/notesMaster" Target="/ppt/notesMasters/notesMaster1.xml" Id="Ra83ef8feddf449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d55ee11baa4fab" /><Relationship Type="http://schemas.openxmlformats.org/officeDocument/2006/relationships/notesMaster" Target="/ppt/notesMasters/notesMaster1.xml" Id="Rc33607f2334745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2dac9924ad441d" /><Relationship Type="http://schemas.openxmlformats.org/officeDocument/2006/relationships/notesMaster" Target="/ppt/notesMasters/notesMaster1.xml" Id="Rb820e883c2e04f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270fae5e444597" /><Relationship Type="http://schemas.openxmlformats.org/officeDocument/2006/relationships/notesMaster" Target="/ppt/notesMasters/notesMaster1.xml" Id="Rf54e471a502445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92129eac1b48bf" /><Relationship Type="http://schemas.openxmlformats.org/officeDocument/2006/relationships/notesMaster" Target="/ppt/notesMasters/notesMaster1.xml" Id="R5d738ee135ac42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8fe59772ad4dab" /><Relationship Type="http://schemas.openxmlformats.org/officeDocument/2006/relationships/notesMaster" Target="/ppt/notesMasters/notesMaster1.xml" Id="R121529f8dde447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6751c96f764c1e" /><Relationship Type="http://schemas.openxmlformats.org/officeDocument/2006/relationships/notesMaster" Target="/ppt/notesMasters/notesMaster1.xml" Id="R8f43bc0819d34b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139624d9b834d98" /><Relationship Type="http://schemas.openxmlformats.org/officeDocument/2006/relationships/notesMaster" Target="/ppt/notesMasters/notesMaster1.xml" Id="R31353ef22abe44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5c6580ebff14f31" /><Relationship Type="http://schemas.openxmlformats.org/officeDocument/2006/relationships/notesMaster" Target="/ppt/notesMasters/notesMaster1.xml" Id="Rdf936ef8a3c34e5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07d6b96dd2d4640" /><Relationship Type="http://schemas.openxmlformats.org/officeDocument/2006/relationships/notesMaster" Target="/ppt/notesMasters/notesMaster1.xml" Id="R9735945bd648403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6f1e2e0b464066" /><Relationship Type="http://schemas.openxmlformats.org/officeDocument/2006/relationships/notesMaster" Target="/ppt/notesMasters/notesMaster1.xml" Id="R7f3b9eb720514a7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a3c0cfbd2854e83" /><Relationship Type="http://schemas.openxmlformats.org/officeDocument/2006/relationships/notesMaster" Target="/ppt/notesMasters/notesMaster1.xml" Id="R9c57e817634d4bb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39d6e42e2ac4ed0" /><Relationship Type="http://schemas.openxmlformats.org/officeDocument/2006/relationships/notesMaster" Target="/ppt/notesMasters/notesMaster1.xml" Id="R6f69ab6a0fcd464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fb5b7c83d0a47b0" /><Relationship Type="http://schemas.openxmlformats.org/officeDocument/2006/relationships/notesMaster" Target="/ppt/notesMasters/notesMaster1.xml" Id="R68eba824b7694f3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bb332c63db14f8c" /><Relationship Type="http://schemas.openxmlformats.org/officeDocument/2006/relationships/notesMaster" Target="/ppt/notesMasters/notesMaster1.xml" Id="Rc99a851921c34c6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ca417b228444d5a" /><Relationship Type="http://schemas.openxmlformats.org/officeDocument/2006/relationships/notesMaster" Target="/ppt/notesMasters/notesMaster1.xml" Id="Ra2a074fd4ab4492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ca417b228444d5a" /><Relationship Type="http://schemas.openxmlformats.org/officeDocument/2006/relationships/notesMaster" Target="/ppt/notesMasters/notesMaster1.xml" Id="Ra2a074fd4ab449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presentation. Elad. 45 seconds.</a:t>
            </a:r>
            <a:endParaRPr/>
          </a:p>
          <a:p xmlns:a="http://schemas.openxmlformats.org/drawingml/2006/main">
            <a:r>
              <a:t/>
            </a:r>
            <a:endParaRPr/>
          </a:p>
          <a:p xmlns:a="http://schemas.openxmlformats.org/drawingml/2006/main">
            <a:r>
              <a:t>Our project asks whether broad news narratives add information about QQQ beyond market prices and scheduled events. QQQ tracks the Nasdaq-100, so our unit of prediction is an index-level daily return, rather than the reaction of a single company to one headline. We chose a pretrained time-series model, Chronos-2, and compared the same model with different inputs, before and after adaptation. The first experiments suggested small gains. The larger study asks whether those gains persist across years and what the model changes during training. Our conclusion is deliberately scoped to the features and training budget that we tested.</a:t>
            </a:r>
            <a:endParaRPr/>
          </a:p>
          <a:p xmlns:a="http://schemas.openxmlformats.org/drawingml/2006/main">
            <a:r>
              <a:t/>
            </a:r>
            <a:endParaRPr/>
          </a:p>
          <a:p xmlns:a="http://schemas.openxmlformats.org/drawingml/2006/main">
            <a:r>
              <a:t>Sources:</a:t>
            </a:r>
            <a:endParaRPr/>
          </a:p>
          <a:p xmlns:a="http://schemas.openxmlformats.org/drawingml/2006/main">
            <a:r>
              <a:t>https://arxiv.org/abs/2510.15821</a:t>
            </a:r>
            <a:endParaRPr/>
          </a:p>
          <a:p xmlns:a="http://schemas.openxmlformats.org/drawingml/2006/main">
            <a:r>
              <a:t>https://arxiv.org/abs/2106.09685</a:t>
            </a:r>
            <a:endParaRPr/>
          </a:p>
          <a:p xmlns:a="http://schemas.openxmlformats.org/drawingml/2006/main">
            <a:r>
              <a:t>docs/REPORT_DECISIONS.md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75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 time-series forecaster uses an ordered history to predict future values. We supply up to 512 trading sessions and ask for five separate daily log returns at once. This is not one cumulative weekly return. After five sessions, we insert all five actual observations and issue the next forecast. The scored blocks do not overlap. Each day has 21 predicted quantiles, including a median and the 10th and 90th percentiles. The central band should contain about 80 percent of outcomes over repeated forecasts. This real example was issued after June 27, 2025. All five forecasts share that cutoff. We evaluate the quantiles with weighted quantile loss, or WQL. Lower is better. WQL measures a forecast distribution, so a value of 0.69 is not 69 percent accuracy. We separately report direction and coverage. Prior financial evaluations motivate this distinction between general forecasting capability and reliable equity-return prediction.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models/news-ablation-869989/gdelt_fed-seed42/validation_predictions.csv</a:t>
            </a:r>
            <a:endParaRPr/>
          </a:p>
          <a:p xmlns:a="http://schemas.openxmlformats.org/drawingml/2006/main">
            <a:pPr marL="0" lvl="0" indent="0" algn="l">
              <a:spcBef>
                <a:spcPts val="0"/>
              </a:spcBef>
              <a:spcAft>
                <a:spcPts val="0"/>
              </a:spcAft>
              <a:buNone/>
            </a:pPr>
            <a:r>
              <a:t>scripts/compare_chronos2_validation.py</a:t>
            </a:r>
            <a:endParaRPr/>
          </a:p>
          <a:p xmlns:a="http://schemas.openxmlformats.org/drawingml/2006/main">
            <a:pPr marL="0" lvl="0" indent="0" algn="l">
              <a:spcBef>
                <a:spcPts val="0"/>
              </a:spcBef>
              <a:spcAft>
                <a:spcPts val="0"/>
              </a:spcAft>
              <a:buNone/>
            </a:pPr>
            <a:r>
              <a:t>https://arxiv.org/abs/2511.18578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Chronos-2 is a pretrained time-series foundation model. The checkpoint has about 119.5 million base parameters, conventionally rounded to 120 million. We did not pretrain that model ourselves. It takes numeric time series, not the raw headlines. Each covariate becomes another series in a group with the QQQ target. Time attention processes history and group attention exchanges information across those series. The model scales observed context, forms patches of 16 observations, and produces quantile forecasts. Our context is capped at 512 sessions. Known future calendar values can be supplied, while future news and prices remain masked. The published model learns covariate relationships in pretraining. Whether those relationships transfer to financial news is our empirical question, not an assumption that we can settle from the architecture.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https://arxiv.org/abs/2510.15821</a:t>
            </a:r>
            <a:endParaRPr/>
          </a:p>
          <a:p xmlns:a="http://schemas.openxmlformats.org/drawingml/2006/main">
            <a:pPr marL="0" lvl="0" indent="0" algn="l">
              <a:spcBef>
                <a:spcPts val="0"/>
              </a:spcBef>
              <a:spcAft>
                <a:spcPts val="0"/>
              </a:spcAft>
              <a:buNone/>
            </a:pPr>
            <a:r>
              <a:t>scripts/build_project_report.py</a:t>
            </a:r>
            <a:endParaRPr/>
          </a:p>
          <a:p xmlns:a="http://schemas.openxmlformats.org/drawingml/2006/main">
            <a:pPr marL="0" lvl="0" indent="0" algn="l">
              <a:spcBef>
                <a:spcPts val="0"/>
              </a:spcBef>
              <a:spcAft>
                <a:spcPts val="0"/>
              </a:spcAft>
              <a:buNone/>
            </a:pPr>
            <a:r>
              <a:t>configs/walk_forward.json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LoRA learns small low-rank weight updates while freezing the base checkpoint. Here that means roughly 1.2 million trainable adapter parameters, rank eight, and a learning rate of ten to the minus five. Every experiment starts from the same original weights. During training, the model sees sampled historical windows and their future return targets. Test observations never enter the fitting call. There is an important batching detail: Chronos counts target and covariate series, not independent forecast windows. Our first batch argument of eight yielded effectively one complete window per update. The later runner explicitly requests eight windows, which is 176 series rows for the 21-feature control. The larger study uses 4,000 sampled windows per fit. We freeze the adapter during evaluation. Because other settings and periods also changed, we cannot attribute every difference between rounds to batching alone.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https://arxiv.org/abs/2106.09685</a:t>
            </a:r>
            <a:endParaRPr/>
          </a:p>
          <a:p xmlns:a="http://schemas.openxmlformats.org/drawingml/2006/main">
            <a:pPr marL="0" lvl="0" indent="0" algn="l">
              <a:spcBef>
                <a:spcPts val="0"/>
              </a:spcBef>
              <a:spcAft>
                <a:spcPts val="0"/>
              </a:spcAft>
              <a:buNone/>
            </a:pPr>
            <a:r>
              <a:t>scripts/compare_chronos2_validation.py</a:t>
            </a:r>
            <a:endParaRPr/>
          </a:p>
          <a:p xmlns:a="http://schemas.openxmlformats.org/drawingml/2006/main">
            <a:pPr marL="0" lvl="0" indent="0" algn="l">
              <a:spcBef>
                <a:spcPts val="0"/>
              </a:spcBef>
              <a:spcAft>
                <a:spcPts val="0"/>
              </a:spcAft>
              <a:buNone/>
            </a:pPr>
            <a:r>
              <a:t>configs/walk_forward.json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archived data inventory spans about twenty years and contains 77 columns, including the date, target and auxiliary raw fields. We select 21 control covariates or 42 in the full external setup. The sources include QQQ and related markets, rates, release calendars, uncertainty indices, FOMC statements, SEC activity, and six GDELT topics. GDELT provides news share and average tone. It limits the comparable news-training history to 2017 onward. The central data rule is availability, not the period a number describes. A July CPI observation cannot be used on July first if it is published in August. We align CPI vintages to release dates and apply source-specific delays to other inputs. Missing news stays masked. These rules reduce look-ahead, although revised series and incomplete historical vintages remain limitations.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docs/DATA_NOTES.md</a:t>
            </a:r>
            <a:endParaRPr/>
          </a:p>
          <a:p xmlns:a="http://schemas.openxmlformats.org/drawingml/2006/main">
            <a:pPr marL="0" lvl="0" indent="0" algn="l">
              <a:spcBef>
                <a:spcPts val="0"/>
              </a:spcBef>
              <a:spcAft>
                <a:spcPts val="0"/>
              </a:spcAft>
              <a:buNone/>
            </a:pPr>
            <a:r>
              <a:t>configs/news_ablation.json</a:t>
            </a:r>
            <a:endParaRPr/>
          </a:p>
          <a:p xmlns:a="http://schemas.openxmlformats.org/drawingml/2006/main">
            <a:pPr marL="0" lvl="0" indent="0" algn="l">
              <a:spcBef>
                <a:spcPts val="0"/>
              </a:spcBef>
              <a:spcAft>
                <a:spcPts val="0"/>
              </a:spcAft>
              <a:buNone/>
            </a:pPr>
            <a:r>
              <a:t>https://blog.gdeltproject.org/gdelt-doc-2-0-api-debuts/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first round adds one source or one topic to a fixed control and evaluates 250 days from mid-2025 to mid-2026. It contains eighteen fits, with seed repetitions only for selected configurations. The later round expands to four calendar years, 2022 through 2025. Each year trains on earlier data beginning in 2017, then scores fifty five-day windows. The ladder starts with the target and progressively adds QQQ transforms, calendars, markets, uncertainty, statement tone and news. Three seeds cover every trained configuration. There are 108 fits including the matched four-window controls. These are 1,000 distinct test days, not three times as many observations because there are three seeds. We compare original and adapted weights on identical dates. A separate swap test exchanges one feature history between evaluation windows and measures the resulting change in loss.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configs/news_ablation.json</a:t>
            </a:r>
            <a:endParaRPr/>
          </a:p>
          <a:p xmlns:a="http://schemas.openxmlformats.org/drawingml/2006/main">
            <a:pPr marL="0" lvl="0" indent="0" algn="l">
              <a:spcBef>
                <a:spcPts val="0"/>
              </a:spcBef>
              <a:spcAft>
                <a:spcPts val="0"/>
              </a:spcAft>
              <a:buNone/>
            </a:pPr>
            <a:r>
              <a:t>configs/walk_forward.json</a:t>
            </a:r>
            <a:endParaRPr/>
          </a:p>
          <a:p xmlns:a="http://schemas.openxmlformats.org/drawingml/2006/main">
            <a:pPr marL="0" lvl="0" indent="0" algn="l">
              <a:spcBef>
                <a:spcPts val="0"/>
              </a:spcBef>
              <a:spcAft>
                <a:spcPts val="0"/>
              </a:spcAft>
              <a:buNone/>
            </a:pPr>
            <a:r>
              <a:t>scripts/permutation_importance.py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30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first screen identified candidates rather than a reliable winner. Fed news improved WQL by 1.28 percent against the fine-tuned control in seed 42. Across three seeds, all-external improved the mean by 0.60 percent, but its uncertainty interval included no gain. EPU and EMU lost their first-seed advantage on repetition. The larger study was designed to test whether those small effects carried across years with a better specified training budget.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docs/GDELT_TOPIC_RESULTS.md</a:t>
            </a:r>
            <a:endParaRPr/>
          </a:p>
          <a:p xmlns:a="http://schemas.openxmlformats.org/drawingml/2006/main">
            <a:pPr marL="0" lvl="0" indent="0" algn="l">
              <a:spcBef>
                <a:spcPts val="0"/>
              </a:spcBef>
              <a:spcAft>
                <a:spcPts val="0"/>
              </a:spcAft>
              <a:buNone/>
            </a:pPr>
            <a:r>
              <a:t>docs/NEWS_ABLATION_RESULTS.md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45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This chart uses the cumulative ladder from the four-year study. Each point averages the four calendar-year WQL scores, and the trained points also average three seeds. Across the seven standard rungs, the gain from LoRA is small. Every pooled confidence interval for adapted minus pretrained loss includes zero. That does not prove the effects are exactly zero. It means this experiment does not establish a reliable aggregate advantage. We keep the 42-feature model separate on the next slide because it requires a different batch recipe and an identically trained control.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docs/results/walk_forward/wql_pretrained.csv</a:t>
            </a:r>
            <a:endParaRPr/>
          </a:p>
          <a:p xmlns:a="http://schemas.openxmlformats.org/drawingml/2006/main">
            <a:pPr marL="0" lvl="0" indent="0" algn="l">
              <a:spcBef>
                <a:spcPts val="0"/>
              </a:spcBef>
              <a:spcAft>
                <a:spcPts val="0"/>
              </a:spcAft>
              <a:buNone/>
            </a:pPr>
            <a:r>
              <a:t>docs/results/walk_forward/wql_fine_tuned.csv</a:t>
            </a:r>
            <a:endParaRPr/>
          </a:p>
          <a:p xmlns:a="http://schemas.openxmlformats.org/drawingml/2006/main">
            <a:pPr marL="0" lvl="0" indent="0" algn="l">
              <a:spcBef>
                <a:spcPts val="0"/>
              </a:spcBef>
              <a:spcAft>
                <a:spcPts val="0"/>
              </a:spcAft>
              <a:buNone/>
            </a:pPr>
            <a:r>
              <a:t>docs/results/walk_forward/finetune_gain.csv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35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full 42-feature model uses four windows per step and a thousand steps. We trained a control with exactly that recipe. All-external improves from about 0.704 to 0.699 with adaptation, but the matched control is about 0.698. The difference is positive 0.00126, and the longer-block confidence interval spans zero. The result is no demonstrated extra value from the external features. It is not evidence that training has no effect at all: training improves the full model relative to its own starting point.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docs/results/walk_forward/wql_pretrained.csv</a:t>
            </a:r>
            <a:endParaRPr/>
          </a:p>
          <a:p xmlns:a="http://schemas.openxmlformats.org/drawingml/2006/main">
            <a:pPr marL="0" lvl="0" indent="0" algn="l">
              <a:spcBef>
                <a:spcPts val="0"/>
              </a:spcBef>
              <a:spcAft>
                <a:spcPts val="0"/>
              </a:spcAft>
              <a:buNone/>
            </a:pPr>
            <a:r>
              <a:t>docs/results/walk_forward/wql_fine_tuned.csv</a:t>
            </a:r>
            <a:endParaRPr/>
          </a:p>
          <a:p xmlns:a="http://schemas.openxmlformats.org/drawingml/2006/main">
            <a:pPr marL="0" lvl="0" indent="0" algn="l">
              <a:spcBef>
                <a:spcPts val="0"/>
              </a:spcBef>
              <a:spcAft>
                <a:spcPts val="0"/>
              </a:spcAft>
              <a:buNone/>
            </a:pPr>
            <a:r>
              <a:t>final report/evidence.json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Tom. 35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These are paired swap effects for the all-external model in calendar 2025. A negative bar means that exchanging the feature history improved the score. The major patterns persist after adaptation. Across all six checkpoint comparisons, the importance-profile correlation lies between 0.91 and 0.98. Most news effects are small. We should not call the profiles identical, or conclude that the network literally reads an input backwards. This is a prediction perturbation test, and correlated features and unusual donor histories limit its interpretation.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docs/results/permutation_finetuned/runs/</a:t>
            </a:r>
            <a:endParaRPr/>
          </a:p>
          <a:p xmlns:a="http://schemas.openxmlformats.org/drawingml/2006/main">
            <a:pPr marL="0" lvl="0" indent="0" algn="l">
              <a:spcBef>
                <a:spcPts val="0"/>
              </a:spcBef>
              <a:spcAft>
                <a:spcPts val="0"/>
              </a:spcAft>
              <a:buNone/>
            </a:pPr>
            <a:r>
              <a:t>scripts/permutation_importance.py</a:t>
            </a:r>
            <a:endParaRPr/>
          </a:p>
          <a:p xmlns:a="http://schemas.openxmlformats.org/drawingml/2006/main">
            <a:pPr marL="0" lvl="0" indent="0" algn="l">
              <a:spcBef>
                <a:spcPts val="0"/>
              </a:spcBef>
              <a:spcAft>
                <a:spcPts val="0"/>
              </a:spcAft>
              <a:buNone/>
            </a:pPr>
            <a:r>
              <a:t>final report/evidence.json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35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clearest change is forecast dispersion. Across all 108 trained cells, intervals widen by about 7.8 percent and aggregate 80 percent coverage rises from 77.7 to 80.1 percent. The chart shows the seven standard rungs by year. Coverage increases in every year, although increasing coverage does not always improve calibration: 2025 was already near the target. Post-hoc analysis finds that adaptation helps in volatile weeks and hurts in quiet weeks. That supports a widening explanation, but it does not prove that widening is the only thing learned.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docs/results/walk_forward/coverage_direction.csv</a:t>
            </a:r>
            <a:endParaRPr/>
          </a:p>
          <a:p xmlns:a="http://schemas.openxmlformats.org/drawingml/2006/main">
            <a:pPr marL="0" lvl="0" indent="0" algn="l">
              <a:spcBef>
                <a:spcPts val="0"/>
              </a:spcBef>
              <a:spcAft>
                <a:spcPts val="0"/>
              </a:spcAft>
              <a:buNone/>
            </a:pPr>
            <a:r>
              <a:t>final report/evidence.json</a:t>
            </a:r>
            <a:endParaRPr/>
          </a:p>
          <a:p xmlns:a="http://schemas.openxmlformats.org/drawingml/2006/main">
            <a:pPr marL="0" lvl="0" indent="0" algn="l">
              <a:spcBef>
                <a:spcPts val="0"/>
              </a:spcBef>
              <a:spcAft>
                <a:spcPts val="0"/>
              </a:spcAft>
              <a:buNone/>
            </a:pPr>
            <a:r>
              <a:t>docs/FINETUNED_LADDER_RESULTS.md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Main presentation. Elad. 60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Across four years, the tested news groups have not established reliable incremental value beyond the market control. At this LoRA budget, forecast intervals widen while the main input-importance patterns remain broadly similar. The lesson is to measure training windows explicitly and to evaluate small source gains across periods, seeds, and uncertainty analyses. This is a bounded result about one ETF, numeric news summaries, and this recipe. It is not proof that news contains no information or that all foundation models fail. The next experiments are a controlled rerun of individual topics, daily one-step forecasts, and a calibrated-scale or supervised quantile baseline. We should select settings on development data and then freeze the model for an untouched prospective test. The model also beats our simple Gaussian baseline on pooled loss, so lack of a demonstrated news benefit should not be confused with lack of all predictive skill.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final report/evidence.json</a:t>
            </a:r>
            <a:endParaRPr/>
          </a:p>
          <a:p xmlns:a="http://schemas.openxmlformats.org/drawingml/2006/main">
            <a:pPr marL="0" lvl="0" indent="0" algn="l">
              <a:spcBef>
                <a:spcPts val="0"/>
              </a:spcBef>
              <a:spcAft>
                <a:spcPts val="0"/>
              </a:spcAft>
              <a:buNone/>
            </a:pPr>
            <a:r>
              <a:t>docs/results/independent_review_2026-09-15.md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All values are from the original five-day, seed-42 screen. The all-external model includes sources beyond GDELT. The later cumulative ladder does not replace a matched rerun of each individual topic. Direction must be compared with the 143/250 always-up rate.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docs/GDELT_TOPIC_RESULTS.md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 the 21-feature control, the newer effective batch has 8 times 22 equals 176 series rows. For 42 external features, the four-window recipe has 4 times 43 equals 172 rows. The old argument of eight resulted in effectively one full group per update. The later runs differ in more than batch size: training steps, test periods, feature snapshot, and Transformers/PEFT versions also change. Therefore the statement that the batch bug caused all original improvements is not isolated by these experiments.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scripts/compare_chronos2_validation.py</a:t>
            </a:r>
            <a:endParaRPr/>
          </a:p>
          <a:p xmlns:a="http://schemas.openxmlformats.org/drawingml/2006/main">
            <a:pPr marL="0" lvl="0" indent="0" algn="l">
              <a:spcBef>
                <a:spcPts val="0"/>
              </a:spcBef>
              <a:spcAft>
                <a:spcPts val="0"/>
              </a:spcAft>
              <a:buNone/>
            </a:pPr>
            <a:r>
              <a:t>configs/walk_forward.json</a:t>
            </a:r>
            <a:endParaRPr/>
          </a:p>
          <a:p xmlns:a="http://schemas.openxmlformats.org/drawingml/2006/main">
            <a:pPr marL="0" lvl="0" indent="0" algn="l">
              <a:spcBef>
                <a:spcPts val="0"/>
              </a:spcBef>
              <a:spcAft>
                <a:spcPts val="0"/>
              </a:spcAft>
              <a:buNone/>
            </a:pPr>
            <a:r>
              <a:t>docs/results/walk_forward/cells/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Each observed week first averages seeds and rungs 3 through 6. We then divide the 200 distinct weeks into terciles using realized mean absolute daily returns. The quiet group has 67 weeks, the middle group 66, and the volatile group 67. Average WQL change is positive 0.0090, negative 0.0021, and negative 0.0103. The analysis is post-hoc and uses future realized movement, so it is not a forecast-time decision rule. It is consistent with wider intervals helping during volatile outcomes and hurting during quiet outcomes.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docs/results/walk_forward/gain_by_window_volatility.csv</a:t>
            </a:r>
            <a:endParaRPr/>
          </a:p>
          <a:p xmlns:a="http://schemas.openxmlformats.org/drawingml/2006/main">
            <a:pPr marL="0" lvl="0" indent="0" algn="l">
              <a:spcBef>
                <a:spcPts val="0"/>
              </a:spcBef>
              <a:spcAft>
                <a:spcPts val="0"/>
              </a:spcAft>
              <a:buNone/>
            </a:pPr>
            <a:r>
              <a:t>final report/evidence.json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Backup slide. Use only for questions.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final paper recomputes three contrasts with five-window circular blocks drawn within each year and 5,000 bootstrap replicates. The fine-tuned market control beats the Gaussian pooled by 0.01088 WQL, with interval negative 0.02269 to negative 0.00106. Its 2022 point estimate is worse. The all-external versus matched control interval includes zero. All these intervals are exploratory and not multiplicity-adjusted. We have one ETF and no untouched prospective test. The base checkpoint publication follows most historical folds, so the adaptation split does not establish absence of pretraining overlap. The original VXN scramble effect is concentrated in five windows and cannot identify the model mechanism.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final report/evidence.json</a:t>
            </a:r>
            <a:endParaRPr/>
          </a:p>
          <a:p xmlns:a="http://schemas.openxmlformats.org/drawingml/2006/main">
            <a:pPr marL="0" lvl="0" indent="0" algn="l">
              <a:spcBef>
                <a:spcPts val="0"/>
              </a:spcBef>
              <a:spcAft>
                <a:spcPts val="0"/>
              </a:spcAft>
              <a:buNone/>
            </a:pPr>
            <a:r>
              <a:t>docs/results/independent_review_2026-09-15.md</a:t>
            </a:r>
            <a:endParaRPr/>
          </a:p>
          <a:p xmlns:a="http://schemas.openxmlformats.org/drawingml/2006/main">
            <a:pPr marL="0" lvl="0" indent="0" algn="l">
              <a:spcBef>
                <a:spcPts val="0"/>
              </a:spcBef>
              <a:spcAft>
                <a:spcPts val="0"/>
              </a:spcAft>
              <a:buNone/>
            </a:pPr>
            <a:r>
              <a:t>https://arxiv.org/abs/2510.15821</a:t>
            </a:r>
            <a:endParaRPr/>
          </a:p>
          <a:p xmlns:a="http://schemas.openxmlformats.org/drawingml/2006/main">
            <a:pPr marL="0" lvl="0" indent="0" algn="l">
              <a:spcBef>
                <a:spcPts val="0"/>
              </a:spcBef>
              <a:spcAft>
                <a:spcPts val="0"/>
              </a:spcAft>
              <a:buNone/>
            </a:pPr>
            <a:r>
              <a:t>https://arxiv.org/abs/2106.09685</a:t>
            </a:r>
            <a:endParaRPr/>
          </a:p>
          <a:p xmlns:a="http://schemas.openxmlformats.org/drawingml/2006/main">
            <a:pPr marL="0" lvl="0" indent="0" algn="l">
              <a:spcBef>
                <a:spcPts val="0"/>
              </a:spcBef>
              <a:spcAft>
                <a:spcPts val="0"/>
              </a:spcAft>
              <a:buNone/>
            </a:pPr>
            <a:r>
              <a:t>https://arxiv.org/abs/2511.18578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LoRA means Low-Rank Adaptation. Full fine-tuning updates all model weights. For a weight matrix W, it learns a same-sized change ΔW. With a roughly 120-million-parameter model, this requires gradients and optimizer states for the full model, and typically a full adapted checkpoint for each experiment.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LoRA instead constrains the learned update to low rank. For a square d-by-d weight matrix, A has shape r-by-d and B has shape d-by-r, with r much smaller than d. We define the scaled update as ΔW = (α/r) BA, so the forward pass is h = Wx + (α/r) BAx. W is frozen. Only the adapter matrices A and B receive parameter gradients. This reduces trainable weights and optimizer state, although training still needs the base forward pass and activation memory.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Our adapter configuration uses rank r = 8, alpha = 16 and dropout zero, so α/r = 2. It sets init_lora_weights = true. PEFT's default initializes A with Kaiming-uniform random values and B with zeros. Therefore BA is zero initially and the adapted network starts with the pretrained function under the same inference settings. Gaussian A initialization is an available alternative, but it is not the setting recorded for our run.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 a square matrix, the number of trainable parameters falls from d² to 2dr. With d = 768 and r = 8, that is 12,288 instead of 589,824. For a rectangular matrix with input width d_in and output width d_out, the adapter has r(d_in + d_out) parameters.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Our saved adapter contains exactly 1,206,912 parameters, approximately 1% of the combined model. The q, k, v and o adapters appear in two attention sublayers per encoder block, across 12 blocks: 96 square projections contribute 1,179,648 parameters. The output patch projection has A of shape 8-by-3072 and B of shape 336-by-8, adding 27,264. The total is therefore about 1.21 million, rather than 0.6 million.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At inference, standard LoRA can be merged once into W′ = W + (α/r) BA. The merged linear layers need no separate adapter operations. This is an available deployment option, not a measured speed claim for our saved evaluation runs.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https://arxiv.org/abs/2106.09685</a:t>
            </a:r>
            <a:endParaRPr/>
          </a:p>
          <a:p xmlns:a="http://schemas.openxmlformats.org/drawingml/2006/main">
            <a:pPr marL="0" lvl="0" indent="0" algn="l">
              <a:spcBef>
                <a:spcPts val="0"/>
              </a:spcBef>
              <a:spcAft>
                <a:spcPts val="0"/>
              </a:spcAft>
              <a:buNone/>
            </a:pPr>
            <a:r>
              <a:t>https://huggingface.co/docs/peft/v0.21.0/package_reference/lora</a:t>
            </a:r>
            <a:endParaRPr/>
          </a:p>
          <a:p xmlns:a="http://schemas.openxmlformats.org/drawingml/2006/main">
            <a:pPr marL="0" lvl="0" indent="0" algn="l">
              <a:spcBef>
                <a:spcPts val="0"/>
              </a:spcBef>
              <a:spcAft>
                <a:spcPts val="0"/>
              </a:spcAft>
              <a:buNone/>
            </a:pPr>
            <a:r>
              <a:t>models/news-ablation-869989/control-seed42/finetuned/finetuned-ckpt/adapter_config.json</a:t>
            </a:r>
            <a:endParaRPr/>
          </a:p>
          <a:p xmlns:a="http://schemas.openxmlformats.org/drawingml/2006/main">
            <a:pPr marL="0" lvl="0" indent="0" algn="l">
              <a:spcBef>
                <a:spcPts val="0"/>
              </a:spcBef>
              <a:spcAft>
                <a:spcPts val="0"/>
              </a:spcAft>
              <a:buNone/>
            </a:pPr>
            <a:r>
              <a:t>models/news-ablation-869989/control-seed42/finetuned/finetuned-ckpt/adapter_model.safetensors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045e1185624c0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843cffe80b9481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e5a1efa5581475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dfa3543e97342c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c11ef095eed43d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99b60951d1d499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7b4271af01f4bd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1e2d1b12c664ed3"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a0f862cb1e42dc" /><Relationship Type="http://schemas.openxmlformats.org/officeDocument/2006/relationships/slideLayout" Target="/ppt/slideLayouts/slideLayout1.xml" Id="R7f034973fa994a73" /><Relationship Type="http://schemas.openxmlformats.org/officeDocument/2006/relationships/slideLayout" Target="/ppt/slideLayouts/slideLayout2.xml" Id="R079a116e62ac4cc4" /><Relationship Type="http://schemas.openxmlformats.org/officeDocument/2006/relationships/slideLayout" Target="/ppt/slideLayouts/slideLayout3.xml" Id="Ra587605a7f08404b" /><Relationship Type="http://schemas.openxmlformats.org/officeDocument/2006/relationships/slideLayout" Target="/ppt/slideLayouts/slideLayout4.xml" Id="R313e902e64984b9f" /><Relationship Type="http://schemas.openxmlformats.org/officeDocument/2006/relationships/slideLayout" Target="/ppt/slideLayouts/slideLayout5.xml" Id="Rb0e148f8b36542d0" /><Relationship Type="http://schemas.openxmlformats.org/officeDocument/2006/relationships/slideLayout" Target="/ppt/slideLayouts/slideLayout6.xml" Id="R322cd9d5c88e4d11" /><Relationship Type="http://schemas.openxmlformats.org/officeDocument/2006/relationships/slideLayout" Target="/ppt/slideLayouts/slideLayout7.xml" Id="R0afd9066f0384875" /><Relationship Type="http://schemas.openxmlformats.org/officeDocument/2006/relationships/slideLayout" Target="/ppt/slideLayouts/slideLayout8.xml" Id="R8fc4c2e7663e465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f034973fa994a73"/>
    <p:sldLayoutId xmlns:r="http://schemas.openxmlformats.org/officeDocument/2006/relationships" id="2147483650" r:id="R079a116e62ac4cc4"/>
    <p:sldLayoutId xmlns:r="http://schemas.openxmlformats.org/officeDocument/2006/relationships" id="2147483651" r:id="Ra587605a7f08404b"/>
    <p:sldLayoutId xmlns:r="http://schemas.openxmlformats.org/officeDocument/2006/relationships" id="2147483652" r:id="R313e902e64984b9f"/>
    <p:sldLayoutId xmlns:r="http://schemas.openxmlformats.org/officeDocument/2006/relationships" id="2147483653" r:id="Rb0e148f8b36542d0"/>
    <p:sldLayoutId xmlns:r="http://schemas.openxmlformats.org/officeDocument/2006/relationships" id="2147483654" r:id="R322cd9d5c88e4d11"/>
    <p:sldLayoutId xmlns:r="http://schemas.openxmlformats.org/officeDocument/2006/relationships" id="2147483655" r:id="R0afd9066f0384875"/>
    <p:sldLayoutId xmlns:r="http://schemas.openxmlformats.org/officeDocument/2006/relationships" id="2147483656" r:id="R8fc4c2e7663e465e"/>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cb5cb0906db4eb9" /><Relationship Type="http://schemas.openxmlformats.org/officeDocument/2006/relationships/notesSlide" Target="/ppt/notesSlides/notesSlide1.xml" Id="Rd95ed295d6904f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62cb7a3f9b6e45d9" /><Relationship Type="http://schemas.openxmlformats.org/officeDocument/2006/relationships/chart" Target="/ppt/slides/charts/chart1.xml" Id="Rcecf07bfe0504826" /><Relationship Type="http://schemas.openxmlformats.org/officeDocument/2006/relationships/notesSlide" Target="/ppt/notesSlides/notesSlide2.xml" Id="Re155603a398941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b55914b7ecf547b2" /><Relationship Type="http://schemas.openxmlformats.org/officeDocument/2006/relationships/notesSlide" Target="/ppt/notesSlides/notesSlide3.xml" Id="R588719b7db244d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9eddabdccd384abd" /><Relationship Type="http://schemas.openxmlformats.org/officeDocument/2006/relationships/notesSlide" Target="/ppt/notesSlides/notesSlide4.xml" Id="Rf2c88d5273b64a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e6c25e514a674471" /><Relationship Type="http://schemas.openxmlformats.org/officeDocument/2006/relationships/notesSlide" Target="/ppt/notesSlides/notesSlide5.xml" Id="Rb7af81d4169540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dd2a2023dcb04dbd" /><Relationship Type="http://schemas.openxmlformats.org/officeDocument/2006/relationships/notesSlide" Target="/ppt/notesSlides/notesSlide6.xml" Id="R0a3ceb852a04412c"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2054ec417b284ea5" /><Relationship Type="http://schemas.openxmlformats.org/officeDocument/2006/relationships/notesSlide" Target="/ppt/notesSlides/notesSlide7.xml" Id="R140c30486edd4a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dab12562803a4d02" /><Relationship Type="http://schemas.openxmlformats.org/officeDocument/2006/relationships/chart" Target="/ppt/slides/charts/chart2.xml" Id="R76912301f55941a2" /><Relationship Type="http://schemas.openxmlformats.org/officeDocument/2006/relationships/notesSlide" Target="/ppt/notesSlides/notesSlide8.xml" Id="R1c7d183c6e584448"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c99d80ae6b354fa2" /><Relationship Type="http://schemas.openxmlformats.org/officeDocument/2006/relationships/chart" Target="/ppt/slides/charts/chart3.xml" Id="R81e77fa5d38746f5" /><Relationship Type="http://schemas.openxmlformats.org/officeDocument/2006/relationships/notesSlide" Target="/ppt/notesSlides/notesSlide9.xml" Id="Ra40a812f7f4b4ab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d88e6793e9ae44ee" /><Relationship Type="http://schemas.openxmlformats.org/officeDocument/2006/relationships/chart" Target="/ppt/slides/charts/chart4.xml" Id="Rd6b48d6b80e0445b" /><Relationship Type="http://schemas.openxmlformats.org/officeDocument/2006/relationships/notesSlide" Target="/ppt/notesSlides/notesSlide10.xml" Id="R03930bbf58ce49c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1c4c087987644243" /><Relationship Type="http://schemas.openxmlformats.org/officeDocument/2006/relationships/chart" Target="/ppt/slides/charts/chart5.xml" Id="R0dc9704ad78b4177" /><Relationship Type="http://schemas.openxmlformats.org/officeDocument/2006/relationships/notesSlide" Target="/ppt/notesSlides/notesSlide11.xml" Id="Rf64db97649f846a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5e4e73ee0c5e445d" /><Relationship Type="http://schemas.openxmlformats.org/officeDocument/2006/relationships/notesSlide" Target="/ppt/notesSlides/notesSlide12.xml" Id="R6627941a78874da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9be3ce86672f43c1" /><Relationship Type="http://schemas.openxmlformats.org/officeDocument/2006/relationships/notesSlide" Target="/ppt/notesSlides/notesSlide13.xml" Id="R65a15491b12d422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1347d150a9254b07" /><Relationship Type="http://schemas.openxmlformats.org/officeDocument/2006/relationships/notesSlide" Target="/ppt/notesSlides/notesSlide14.xml" Id="R8372ebba252f4a0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8baf92e1be1f470a" /><Relationship Type="http://schemas.openxmlformats.org/officeDocument/2006/relationships/chart" Target="/ppt/slides/charts/chart6.xml" Id="Ra7e56edbfe174464" /><Relationship Type="http://schemas.openxmlformats.org/officeDocument/2006/relationships/notesSlide" Target="/ppt/notesSlides/notesSlide15.xml" Id="R5b1e44b6d1a646d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1b6f76acb3354aa4" /><Relationship Type="http://schemas.openxmlformats.org/officeDocument/2006/relationships/notesSlide" Target="/ppt/notesSlides/notesSlide16.xml" Id="Rf449a388ab12481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1b6f76acb3354aa4" /><Relationship Type="http://schemas.openxmlformats.org/officeDocument/2006/relationships/notesSlide" Target="/ppt/notesSlides/notesSlide17.xml" Id="Rf449a388ab12481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Actual</c:v>
          </c:tx>
          <c:spPr>
            <a:solidFill xmlns:a="http://schemas.openxmlformats.org/drawingml/2006/main">
              <a:srgbClr val="000000"/>
            </a:solidFill>
            <a:ln xmlns:a="http://schemas.openxmlformats.org/drawingml/2006/main" w="23813">
              <a:solidFill>
                <a:srgbClr val="000000"/>
              </a:solidFill>
              <a:prstDash val="solid"/>
            </a:ln>
          </c:spPr>
          <c:marker>
            <c:symbol val="circle"/>
            <c:size val="6"/>
            <c:spPr>
              <a:solidFill xmlns:a="http://schemas.openxmlformats.org/drawingml/2006/main">
                <a:srgbClr val="000000"/>
              </a:solidFill>
            </c:spPr>
          </c:marker>
          <c:cat>
            <c:strRef>
              <c:f>'Chart Data'!$A$2:$A$6</c:f>
              <c:strCache>
                <c:ptCount val="5"/>
                <c:pt idx="0">
                  <c:v>Jun 30</c:v>
                </c:pt>
                <c:pt idx="1">
                  <c:v>Jul 1</c:v>
                </c:pt>
                <c:pt idx="2">
                  <c:v>Jul 2</c:v>
                </c:pt>
                <c:pt idx="3">
                  <c:v>Jul 3</c:v>
                </c:pt>
                <c:pt idx="4">
                  <c:v>Jul 7</c:v>
                </c:pt>
              </c:strCache>
            </c:strRef>
          </c:cat>
          <c:val>
            <c:numRef>
              <c:f>'Chart Data'!$B$2:$B$6</c:f>
              <c:numCache>
                <c:formatCode>0.0</c:formatCode>
                <c:ptCount val="5"/>
                <c:pt idx="0">
                  <c:v>0.6456</c:v>
                </c:pt>
                <c:pt idx="1">
                  <c:v>-0.8465</c:v>
                </c:pt>
                <c:pt idx="2">
                  <c:v>0.6941</c:v>
                </c:pt>
                <c:pt idx="3">
                  <c:v>0.9792</c:v>
                </c:pt>
                <c:pt idx="4">
                  <c:v>-0.7562</c:v>
                </c:pt>
              </c:numCache>
            </c:numRef>
          </c:val>
          <c:smooth val="0"/>
        </c:ser>
        <c:ser>
          <c:idx val="1"/>
          <c:order val="1"/>
          <c:tx>
            <c:v>Median</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strRef>
              <c:f>'Chart Data'!$C$2:$C$6</c:f>
              <c:strCache>
                <c:ptCount val="5"/>
                <c:pt idx="0">
                  <c:v>Jun 30</c:v>
                </c:pt>
                <c:pt idx="1">
                  <c:v>Jul 1</c:v>
                </c:pt>
                <c:pt idx="2">
                  <c:v>Jul 2</c:v>
                </c:pt>
                <c:pt idx="3">
                  <c:v>Jul 3</c:v>
                </c:pt>
                <c:pt idx="4">
                  <c:v>Jul 7</c:v>
                </c:pt>
              </c:strCache>
            </c:strRef>
          </c:cat>
          <c:val>
            <c:numRef>
              <c:f>'Chart Data'!$D$2:$D$6</c:f>
              <c:numCache>
                <c:formatCode>0.0</c:formatCode>
                <c:ptCount val="5"/>
                <c:pt idx="0">
                  <c:v>0.1548</c:v>
                </c:pt>
                <c:pt idx="1">
                  <c:v>0.1311</c:v>
                </c:pt>
                <c:pt idx="2">
                  <c:v>0.1701</c:v>
                </c:pt>
                <c:pt idx="3">
                  <c:v>0.1693</c:v>
                </c:pt>
                <c:pt idx="4">
                  <c:v>0.1779</c:v>
                </c:pt>
              </c:numCache>
            </c:numRef>
          </c:val>
          <c:smooth val="0"/>
        </c:ser>
        <c:ser>
          <c:idx val="2"/>
          <c:order val="2"/>
          <c:tx>
            <c:v>10th percentile</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strRef>
              <c:f>'Chart Data'!$E$2:$E$6</c:f>
              <c:strCache>
                <c:ptCount val="5"/>
                <c:pt idx="0">
                  <c:v>Jun 30</c:v>
                </c:pt>
                <c:pt idx="1">
                  <c:v>Jul 1</c:v>
                </c:pt>
                <c:pt idx="2">
                  <c:v>Jul 2</c:v>
                </c:pt>
                <c:pt idx="3">
                  <c:v>Jul 3</c:v>
                </c:pt>
                <c:pt idx="4">
                  <c:v>Jul 7</c:v>
                </c:pt>
              </c:strCache>
            </c:strRef>
          </c:cat>
          <c:val>
            <c:numRef>
              <c:f>'Chart Data'!$F$2:$F$6</c:f>
              <c:numCache>
                <c:formatCode>0.0</c:formatCode>
                <c:ptCount val="5"/>
                <c:pt idx="0">
                  <c:v>-1.0729</c:v>
                </c:pt>
                <c:pt idx="1">
                  <c:v>-1.1233</c:v>
                </c:pt>
                <c:pt idx="2">
                  <c:v>-1.1152</c:v>
                </c:pt>
                <c:pt idx="3">
                  <c:v>-1.1137</c:v>
                </c:pt>
                <c:pt idx="4">
                  <c:v>-1.1259</c:v>
                </c:pt>
              </c:numCache>
            </c:numRef>
          </c:val>
          <c:smooth val="0"/>
        </c:ser>
        <c:ser>
          <c:idx val="3"/>
          <c:order val="3"/>
          <c:tx>
            <c:v>90th percentile</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strRef>
              <c:f>'Chart Data'!$G$2:$G$6</c:f>
              <c:strCache>
                <c:ptCount val="5"/>
                <c:pt idx="0">
                  <c:v>Jun 30</c:v>
                </c:pt>
                <c:pt idx="1">
                  <c:v>Jul 1</c:v>
                </c:pt>
                <c:pt idx="2">
                  <c:v>Jul 2</c:v>
                </c:pt>
                <c:pt idx="3">
                  <c:v>Jul 3</c:v>
                </c:pt>
                <c:pt idx="4">
                  <c:v>Jul 7</c:v>
                </c:pt>
              </c:strCache>
            </c:strRef>
          </c:cat>
          <c:val>
            <c:numRef>
              <c:f>'Chart Data'!$H$2:$H$6</c:f>
              <c:numCache>
                <c:formatCode>0.0</c:formatCode>
                <c:ptCount val="5"/>
                <c:pt idx="0">
                  <c:v>1.3081</c:v>
                </c:pt>
                <c:pt idx="1">
                  <c:v>1.3258</c:v>
                </c:pt>
                <c:pt idx="2">
                  <c:v>1.3636</c:v>
                </c:pt>
                <c:pt idx="3">
                  <c:v>1.36</c:v>
                </c:pt>
                <c:pt idx="4">
                  <c:v>1.391</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1.5"/>
          <c:min val="-1.5"/>
        </c:scaling>
        <c:delete val="0"/>
        <c:axPos val="l"/>
        <c:majorGridlines>
          <c:spPr>
            <a:ln xmlns:a="http://schemas.openxmlformats.org/drawingml/2006/main" w="6668">
              <a:solidFill>
                <a:srgbClr val="E1E4E8"/>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Pretrained</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strRef>
              <c:f>'Chart Data'!$A$2:$A$8</c:f>
              <c:strCache>
                <c:ptCount val="7"/>
                <c:pt idx="0">
                  <c:v>Target</c:v>
                </c:pt>
                <c:pt idx="1">
                  <c:v>QQQ</c:v>
                </c:pt>
                <c:pt idx="2">
                  <c:v>Calendar</c:v>
                </c:pt>
                <c:pt idx="3">
                  <c:v>Market</c:v>
                </c:pt>
                <c:pt idx="4">
                  <c:v>EPU</c:v>
                </c:pt>
                <c:pt idx="5">
                  <c:v>FOMC</c:v>
                </c:pt>
                <c:pt idx="6">
                  <c:v>GDELT</c:v>
                </c:pt>
              </c:strCache>
            </c:strRef>
          </c:cat>
          <c:val>
            <c:numRef>
              <c:f>'Chart Data'!$B$2:$B$8</c:f>
              <c:numCache>
                <c:formatCode>0.000</c:formatCode>
                <c:ptCount val="7"/>
                <c:pt idx="0">
                  <c:v>0.697683169089</c:v>
                </c:pt>
                <c:pt idx="1">
                  <c:v>0.696839885793</c:v>
                </c:pt>
                <c:pt idx="2">
                  <c:v>0.695602828385</c:v>
                </c:pt>
                <c:pt idx="3">
                  <c:v>0.697473206802</c:v>
                </c:pt>
                <c:pt idx="4">
                  <c:v>0.698072890276</c:v>
                </c:pt>
                <c:pt idx="5">
                  <c:v>0.697845189109</c:v>
                </c:pt>
                <c:pt idx="6">
                  <c:v>0.699103374465</c:v>
                </c:pt>
              </c:numCache>
            </c:numRef>
          </c:val>
          <c:smooth val="0"/>
        </c:ser>
        <c:ser>
          <c:idx val="1"/>
          <c:order val="1"/>
          <c:tx>
            <c:v>LoRA</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strRef>
              <c:f>'Chart Data'!$C$2:$C$8</c:f>
              <c:strCache>
                <c:ptCount val="7"/>
                <c:pt idx="0">
                  <c:v>Target</c:v>
                </c:pt>
                <c:pt idx="1">
                  <c:v>QQQ</c:v>
                </c:pt>
                <c:pt idx="2">
                  <c:v>Calendar</c:v>
                </c:pt>
                <c:pt idx="3">
                  <c:v>Market</c:v>
                </c:pt>
                <c:pt idx="4">
                  <c:v>EPU</c:v>
                </c:pt>
                <c:pt idx="5">
                  <c:v>FOMC</c:v>
                </c:pt>
                <c:pt idx="6">
                  <c:v>GDELT</c:v>
                </c:pt>
              </c:strCache>
            </c:strRef>
          </c:cat>
          <c:val>
            <c:numRef>
              <c:f>'Chart Data'!$D$2:$D$8</c:f>
              <c:numCache>
                <c:formatCode>0.000</c:formatCode>
                <c:ptCount val="7"/>
                <c:pt idx="0">
                  <c:v>0.697605450816</c:v>
                </c:pt>
                <c:pt idx="1">
                  <c:v>0.696604441957</c:v>
                </c:pt>
                <c:pt idx="2">
                  <c:v>0.695973597489</c:v>
                </c:pt>
                <c:pt idx="3">
                  <c:v>0.696717404072</c:v>
                </c:pt>
                <c:pt idx="4">
                  <c:v>0.697211844444</c:v>
                </c:pt>
                <c:pt idx="5">
                  <c:v>0.696860710086</c:v>
                </c:pt>
                <c:pt idx="6">
                  <c:v>0.697289940211</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702"/>
          <c:min val="0.694"/>
        </c:scaling>
        <c:delete val="0"/>
        <c:axPos val="l"/>
        <c:majorGridlines>
          <c:spPr>
            <a:ln xmlns:a="http://schemas.openxmlformats.org/drawingml/2006/main" w="6668">
              <a:solidFill>
                <a:srgbClr val="E1E4E8"/>
              </a:solidFill>
            </a:ln>
          </c:spPr>
        </c:majorGridlines>
        <c:numFmt formatCode="0.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All external, pretrained</c:v>
          </c:tx>
          <c:spPr>
            <a:solidFill xmlns:a="http://schemas.openxmlformats.org/drawingml/2006/main">
              <a:srgbClr val="7B8188"/>
            </a:solidFill>
            <a:ln xmlns:a="http://schemas.openxmlformats.org/drawingml/2006/main" w="23813">
              <a:solidFill>
                <a:srgbClr val="7B8188"/>
              </a:solidFill>
              <a:prstDash val="dot"/>
            </a:ln>
          </c:spPr>
          <c:marker>
            <c:symbol val="circle"/>
            <c:size val="6"/>
            <c:spPr>
              <a:solidFill xmlns:a="http://schemas.openxmlformats.org/drawingml/2006/main">
                <a:srgbClr val="7B8188"/>
              </a:solidFill>
            </c:spPr>
          </c:marker>
          <c:cat>
            <c:numRef>
              <c:f>'Chart Data'!$A$2:$A$5</c:f>
              <c:numCache>
                <c:formatCode>General</c:formatCode>
                <c:ptCount val="4"/>
                <c:pt idx="0">
                  <c:v>2022</c:v>
                </c:pt>
                <c:pt idx="1">
                  <c:v>2023</c:v>
                </c:pt>
                <c:pt idx="2">
                  <c:v>2024</c:v>
                </c:pt>
                <c:pt idx="3">
                  <c:v>2025</c:v>
                </c:pt>
              </c:numCache>
            </c:numRef>
          </c:cat>
          <c:val>
            <c:numRef>
              <c:f>'Chart Data'!$B$2:$B$5</c:f>
              <c:numCache>
                <c:formatCode>0.000</c:formatCode>
                <c:ptCount val="4"/>
                <c:pt idx="0">
                  <c:v>0.697707781372</c:v>
                </c:pt>
                <c:pt idx="1">
                  <c:v>0.694677170873</c:v>
                </c:pt>
                <c:pt idx="2">
                  <c:v>0.702599060938</c:v>
                </c:pt>
                <c:pt idx="3">
                  <c:v>0.719910557912</c:v>
                </c:pt>
              </c:numCache>
            </c:numRef>
          </c:val>
          <c:smooth val="0"/>
        </c:ser>
        <c:ser>
          <c:idx val="1"/>
          <c:order val="1"/>
          <c:tx>
            <c:v>All external, LoRA</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numRef>
              <c:f>'Chart Data'!$C$2:$C$5</c:f>
              <c:numCache>
                <c:formatCode>General</c:formatCode>
                <c:ptCount val="4"/>
                <c:pt idx="0">
                  <c:v>2022</c:v>
                </c:pt>
                <c:pt idx="1">
                  <c:v>2023</c:v>
                </c:pt>
                <c:pt idx="2">
                  <c:v>2024</c:v>
                </c:pt>
                <c:pt idx="3">
                  <c:v>2025</c:v>
                </c:pt>
              </c:numCache>
            </c:numRef>
          </c:cat>
          <c:val>
            <c:numRef>
              <c:f>'Chart Data'!$D$2:$D$5</c:f>
              <c:numCache>
                <c:formatCode>0.000</c:formatCode>
                <c:ptCount val="4"/>
                <c:pt idx="0">
                  <c:v>0.69044655734</c:v>
                </c:pt>
                <c:pt idx="1">
                  <c:v>0.688054317844</c:v>
                </c:pt>
                <c:pt idx="2">
                  <c:v>0.702579401413</c:v>
                </c:pt>
                <c:pt idx="3">
                  <c:v>0.71474938473</c:v>
                </c:pt>
              </c:numCache>
            </c:numRef>
          </c:val>
          <c:smooth val="0"/>
        </c:ser>
        <c:ser>
          <c:idx val="2"/>
          <c:order val="2"/>
          <c:tx>
            <c:v>Matched control, LoRA</c:v>
          </c:tx>
          <c:spPr>
            <a:solidFill xmlns:a="http://schemas.openxmlformats.org/drawingml/2006/main">
              <a:srgbClr val="168B79"/>
            </a:solidFill>
            <a:ln xmlns:a="http://schemas.openxmlformats.org/drawingml/2006/main" w="23813">
              <a:solidFill>
                <a:srgbClr val="168B79"/>
              </a:solidFill>
              <a:prstDash val="solid"/>
            </a:ln>
          </c:spPr>
          <c:marker>
            <c:symbol val="circle"/>
            <c:size val="6"/>
            <c:spPr>
              <a:solidFill xmlns:a="http://schemas.openxmlformats.org/drawingml/2006/main">
                <a:srgbClr val="168B79"/>
              </a:solidFill>
            </c:spPr>
          </c:marker>
          <c:cat>
            <c:numRef>
              <c:f>'Chart Data'!$E$2:$E$5</c:f>
              <c:numCache>
                <c:formatCode>General</c:formatCode>
                <c:ptCount val="4"/>
                <c:pt idx="0">
                  <c:v>2022</c:v>
                </c:pt>
                <c:pt idx="1">
                  <c:v>2023</c:v>
                </c:pt>
                <c:pt idx="2">
                  <c:v>2024</c:v>
                </c:pt>
                <c:pt idx="3">
                  <c:v>2025</c:v>
                </c:pt>
              </c:numCache>
            </c:numRef>
          </c:cat>
          <c:val>
            <c:numRef>
              <c:f>'Chart Data'!$F$2:$F$5</c:f>
              <c:numCache>
                <c:formatCode>0.000</c:formatCode>
                <c:ptCount val="4"/>
                <c:pt idx="0">
                  <c:v>0.688491257338</c:v>
                </c:pt>
                <c:pt idx="1">
                  <c:v>0.685451042495</c:v>
                </c:pt>
                <c:pt idx="2">
                  <c:v>0.703351843842</c:v>
                </c:pt>
                <c:pt idx="3">
                  <c:v>0.713508194836</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725"/>
          <c:min val="0.68"/>
        </c:scaling>
        <c:delete val="0"/>
        <c:axPos val="l"/>
        <c:majorGridlines>
          <c:spPr>
            <a:ln xmlns:a="http://schemas.openxmlformats.org/drawingml/2006/main" w="6668">
              <a:solidFill>
                <a:srgbClr val="E1E4E8"/>
              </a:solidFill>
            </a:ln>
          </c:spPr>
        </c:majorGridlines>
        <c:numFmt formatCode="0.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Pretrained</c:v>
          </c:tx>
          <c:spPr>
            <a:solidFill xmlns:a="http://schemas.openxmlformats.org/drawingml/2006/main">
              <a:srgbClr val="7B8188"/>
            </a:solidFill>
            <a:ln xmlns:a="http://schemas.openxmlformats.org/drawingml/2006/main" w="23813">
              <a:solidFill>
                <a:srgbClr val="7B8188"/>
              </a:solidFill>
              <a:prstDash val="solid"/>
            </a:ln>
          </c:spPr>
          <c:invertIfNegative val="0"/>
          <c:cat>
            <c:strRef>
              <c:f>'Chart Data'!$A$2:$A$7</c:f>
              <c:strCache>
                <c:ptCount val="6"/>
                <c:pt idx="0">
                  <c:v>VXN
change</c:v>
                </c:pt>
                <c:pt idx="1">
                  <c:v>Overnight
gap</c:v>
                </c:pt>
                <c:pt idx="2">
                  <c:v>TLT
return</c:v>
                </c:pt>
                <c:pt idx="3">
                  <c:v>EPU</c:v>
                </c:pt>
                <c:pt idx="4">
                  <c:v>FOMC
tone</c:v>
                </c:pt>
                <c:pt idx="5">
                  <c:v>GDELT
Fed tone</c:v>
                </c:pt>
              </c:strCache>
            </c:strRef>
          </c:cat>
          <c:val>
            <c:numRef>
              <c:f>'Chart Data'!$B$2:$B$7</c:f>
              <c:numCache>
                <c:formatCode>0.0</c:formatCode>
                <c:ptCount val="6"/>
                <c:pt idx="0">
                  <c:v>-8.38046114748</c:v>
                </c:pt>
                <c:pt idx="1">
                  <c:v>-2.25760846804</c:v>
                </c:pt>
                <c:pt idx="2">
                  <c:v>-1.46333661755</c:v>
                </c:pt>
                <c:pt idx="3">
                  <c:v>-0.533960207868</c:v>
                </c:pt>
                <c:pt idx="4">
                  <c:v>-0.137455446622</c:v>
                </c:pt>
                <c:pt idx="5">
                  <c:v>0.195854790992</c:v>
                </c:pt>
              </c:numCache>
            </c:numRef>
          </c:val>
        </c:ser>
        <c:ser>
          <c:idx val="1"/>
          <c:order val="1"/>
          <c:tx>
            <c:v>LoRA</c:v>
          </c:tx>
          <c:spPr>
            <a:solidFill xmlns:a="http://schemas.openxmlformats.org/drawingml/2006/main">
              <a:srgbClr val="3D8DFF"/>
            </a:solidFill>
            <a:ln xmlns:a="http://schemas.openxmlformats.org/drawingml/2006/main" w="23813">
              <a:solidFill>
                <a:srgbClr val="3D8DFF"/>
              </a:solidFill>
              <a:prstDash val="solid"/>
            </a:ln>
          </c:spPr>
          <c:invertIfNegative val="0"/>
          <c:cat>
            <c:strRef>
              <c:f>'Chart Data'!$C$2:$C$7</c:f>
              <c:strCache>
                <c:ptCount val="6"/>
                <c:pt idx="0">
                  <c:v>VXN
change</c:v>
                </c:pt>
                <c:pt idx="1">
                  <c:v>Overnight
gap</c:v>
                </c:pt>
                <c:pt idx="2">
                  <c:v>TLT
return</c:v>
                </c:pt>
                <c:pt idx="3">
                  <c:v>EPU</c:v>
                </c:pt>
                <c:pt idx="4">
                  <c:v>FOMC
tone</c:v>
                </c:pt>
                <c:pt idx="5">
                  <c:v>GDELT
Fed tone</c:v>
                </c:pt>
              </c:strCache>
            </c:strRef>
          </c:cat>
          <c:val>
            <c:numRef>
              <c:f>'Chart Data'!$D$2:$D$7</c:f>
              <c:numCache>
                <c:formatCode>0.0</c:formatCode>
                <c:ptCount val="6"/>
                <c:pt idx="0">
                  <c:v>-8.6799523185</c:v>
                </c:pt>
                <c:pt idx="1">
                  <c:v>-2.31458125034</c:v>
                </c:pt>
                <c:pt idx="2">
                  <c:v>-1.10480496693</c:v>
                </c:pt>
                <c:pt idx="3">
                  <c:v>-0.226869787369</c:v>
                </c:pt>
                <c:pt idx="4">
                  <c:v>-0.133919872527</c:v>
                </c:pt>
                <c:pt idx="5">
                  <c:v>0.221660414808</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3"/>
          <c:min val="-12"/>
        </c:scaling>
        <c:delete val="0"/>
        <c:axPos val="l"/>
        <c:majorGridlines>
          <c:spPr>
            <a:ln xmlns:a="http://schemas.openxmlformats.org/drawingml/2006/main" w="6668">
              <a:solidFill>
                <a:srgbClr val="E1E4E8"/>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Pretrained</c:v>
          </c:tx>
          <c:spPr>
            <a:solidFill xmlns:a="http://schemas.openxmlformats.org/drawingml/2006/main">
              <a:srgbClr val="7B8188"/>
            </a:solidFill>
            <a:ln xmlns:a="http://schemas.openxmlformats.org/drawingml/2006/main" w="23813">
              <a:solidFill>
                <a:srgbClr val="7B8188"/>
              </a:solidFill>
              <a:prstDash val="solid"/>
            </a:ln>
          </c:spPr>
          <c:marker>
            <c:symbol val="circle"/>
            <c:size val="6"/>
            <c:spPr>
              <a:solidFill xmlns:a="http://schemas.openxmlformats.org/drawingml/2006/main">
                <a:srgbClr val="7B8188"/>
              </a:solidFill>
            </c:spPr>
          </c:marker>
          <c:cat>
            <c:numRef>
              <c:f>'Chart Data'!$A$2:$A$5</c:f>
              <c:numCache>
                <c:formatCode>General</c:formatCode>
                <c:ptCount val="4"/>
                <c:pt idx="0">
                  <c:v>2022</c:v>
                </c:pt>
                <c:pt idx="1">
                  <c:v>2023</c:v>
                </c:pt>
                <c:pt idx="2">
                  <c:v>2024</c:v>
                </c:pt>
                <c:pt idx="3">
                  <c:v>2025</c:v>
                </c:pt>
              </c:numCache>
            </c:numRef>
          </c:cat>
          <c:val>
            <c:numRef>
              <c:f>'Chart Data'!$B$2:$B$5</c:f>
              <c:numCache>
                <c:formatCode>0%</c:formatCode>
                <c:ptCount val="4"/>
                <c:pt idx="0">
                  <c:v>0.761714285714</c:v>
                </c:pt>
                <c:pt idx="1">
                  <c:v>0.789714285714</c:v>
                </c:pt>
                <c:pt idx="2">
                  <c:v>0.756571428571</c:v>
                </c:pt>
                <c:pt idx="3">
                  <c:v>0.803428571429</c:v>
                </c:pt>
              </c:numCache>
            </c:numRef>
          </c:val>
          <c:smooth val="0"/>
        </c:ser>
        <c:ser>
          <c:idx val="1"/>
          <c:order val="1"/>
          <c:tx>
            <c:v>LoRA</c:v>
          </c:tx>
          <c:spPr>
            <a:solidFill xmlns:a="http://schemas.openxmlformats.org/drawingml/2006/main">
              <a:srgbClr val="3D8DFF"/>
            </a:solidFill>
            <a:ln xmlns:a="http://schemas.openxmlformats.org/drawingml/2006/main" w="23813">
              <a:solidFill>
                <a:srgbClr val="3D8DFF"/>
              </a:solidFill>
              <a:prstDash val="solid"/>
            </a:ln>
          </c:spPr>
          <c:marker>
            <c:symbol val="circle"/>
            <c:size val="6"/>
            <c:spPr>
              <a:solidFill xmlns:a="http://schemas.openxmlformats.org/drawingml/2006/main">
                <a:srgbClr val="3D8DFF"/>
              </a:solidFill>
            </c:spPr>
          </c:marker>
          <c:cat>
            <c:numRef>
              <c:f>'Chart Data'!$C$2:$C$5</c:f>
              <c:numCache>
                <c:formatCode>General</c:formatCode>
                <c:ptCount val="4"/>
                <c:pt idx="0">
                  <c:v>2022</c:v>
                </c:pt>
                <c:pt idx="1">
                  <c:v>2023</c:v>
                </c:pt>
                <c:pt idx="2">
                  <c:v>2024</c:v>
                </c:pt>
                <c:pt idx="3">
                  <c:v>2025</c:v>
                </c:pt>
              </c:numCache>
            </c:numRef>
          </c:cat>
          <c:val>
            <c:numRef>
              <c:f>'Chart Data'!$D$2:$D$5</c:f>
              <c:numCache>
                <c:formatCode>0%</c:formatCode>
                <c:ptCount val="4"/>
                <c:pt idx="0">
                  <c:v>0.787428571429</c:v>
                </c:pt>
                <c:pt idx="1">
                  <c:v>0.811619047619</c:v>
                </c:pt>
                <c:pt idx="2">
                  <c:v>0.780761904762</c:v>
                </c:pt>
                <c:pt idx="3">
                  <c:v>0.818476190476</c:v>
                </c:pt>
              </c:numCache>
            </c:numRef>
          </c:val>
          <c:smooth val="0"/>
        </c:ser>
        <c:ser>
          <c:idx val="2"/>
          <c:order val="2"/>
          <c:tx>
            <c:v>80% target</c:v>
          </c:tx>
          <c:spPr>
            <a:solidFill xmlns:a="http://schemas.openxmlformats.org/drawingml/2006/main">
              <a:srgbClr val="BF8717"/>
            </a:solidFill>
            <a:ln xmlns:a="http://schemas.openxmlformats.org/drawingml/2006/main" w="23813">
              <a:solidFill>
                <a:srgbClr val="BF8717"/>
              </a:solidFill>
              <a:prstDash val="dot"/>
            </a:ln>
          </c:spPr>
          <c:marker>
            <c:symbol val="circle"/>
            <c:size val="6"/>
            <c:spPr>
              <a:solidFill xmlns:a="http://schemas.openxmlformats.org/drawingml/2006/main">
                <a:srgbClr val="BF8717"/>
              </a:solidFill>
            </c:spPr>
          </c:marker>
          <c:cat>
            <c:numRef>
              <c:f>'Chart Data'!$E$2:$E$5</c:f>
              <c:numCache>
                <c:formatCode>General</c:formatCode>
                <c:ptCount val="4"/>
                <c:pt idx="0">
                  <c:v>2022</c:v>
                </c:pt>
                <c:pt idx="1">
                  <c:v>2023</c:v>
                </c:pt>
                <c:pt idx="2">
                  <c:v>2024</c:v>
                </c:pt>
                <c:pt idx="3">
                  <c:v>2025</c:v>
                </c:pt>
              </c:numCache>
            </c:numRef>
          </c:cat>
          <c:val>
            <c:numRef>
              <c:f>'Chart Data'!$F$2:$F$5</c:f>
              <c:numCache>
                <c:formatCode>0%</c:formatCode>
                <c:ptCount val="4"/>
                <c:pt idx="0">
                  <c:v>0.8</c:v>
                </c:pt>
                <c:pt idx="1">
                  <c:v>0.8</c:v>
                </c:pt>
                <c:pt idx="2">
                  <c:v>0.8</c:v>
                </c:pt>
                <c:pt idx="3">
                  <c:v>0.8</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84"/>
          <c:min val="0.72"/>
        </c:scaling>
        <c:delete val="0"/>
        <c:axPos val="l"/>
        <c:majorGridlines>
          <c:spPr>
            <a:ln xmlns:a="http://schemas.openxmlformats.org/drawingml/2006/main" w="6668">
              <a:solidFill>
                <a:srgbClr val="E1E4E8"/>
              </a:solidFill>
            </a:ln>
          </c:spPr>
        </c:majorGridlines>
        <c:numFmt formatCode="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LoRA minus pretrained</c:v>
          </c:tx>
          <c:spPr>
            <a:solidFill xmlns:a="http://schemas.openxmlformats.org/drawingml/2006/main">
              <a:srgbClr val="3D8DFF"/>
            </a:solidFill>
            <a:ln xmlns:a="http://schemas.openxmlformats.org/drawingml/2006/main" w="23813">
              <a:solidFill>
                <a:srgbClr val="3D8DFF"/>
              </a:solidFill>
              <a:prstDash val="solid"/>
            </a:ln>
          </c:spPr>
          <c:invertIfNegative val="0"/>
          <c:cat>
            <c:strRef>
              <c:f>'Chart Data'!$A$2:$A$4</c:f>
              <c:strCache>
                <c:ptCount val="3"/>
                <c:pt idx="0">
                  <c:v>Quiet</c:v>
                </c:pt>
                <c:pt idx="1">
                  <c:v>Middle</c:v>
                </c:pt>
                <c:pt idx="2">
                  <c:v>Volatile</c:v>
                </c:pt>
              </c:strCache>
            </c:strRef>
          </c:cat>
          <c:val>
            <c:numRef>
              <c:f>'Chart Data'!$B$2:$B$4</c:f>
              <c:numCache>
                <c:formatCode>0.0</c:formatCode>
                <c:ptCount val="3"/>
                <c:pt idx="0">
                  <c:v>9.03533627732</c:v>
                </c:pt>
                <c:pt idx="1">
                  <c:v>-2.05982895299</c:v>
                </c:pt>
                <c:pt idx="2">
                  <c:v>-10.3008494282</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15"/>
          <c:min val="-15"/>
        </c:scaling>
        <c:delete val="0"/>
        <c:axPos val="l"/>
        <c:majorGridlines>
          <c:spPr>
            <a:ln xmlns:a="http://schemas.openxmlformats.org/drawingml/2006/main" w="6668">
              <a:solidFill>
                <a:srgbClr val="E1E4E8"/>
              </a:solidFill>
            </a:ln>
          </c:spPr>
        </c:majorGridlines>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a:noAutofit/>
          </a:bodyPr>
          <a:lstStyle xmlns:a="http://schemas.openxmlformats.org/drawingml/2006/main"/>
          <a:p xmlns:a="http://schemas.openxmlformats.org/drawingml/2006/main">
            <a:pPr>
              <a:defRPr sz="6000">
                <a:solidFill>
                  <a:srgbClr val="000000"/>
                </a:solidFill>
                <a:latin typeface="Helvetica Neue"/>
                <a:ea typeface="Helvetica Neue"/>
                <a:cs typeface="Helvetica Neue"/>
              </a:defRPr>
            </a:pPr>
            <a:r>
              <a:rPr sz="6000">
                <a:solidFill>
                  <a:srgbClr val="000000"/>
                </a:solidFill>
                <a:latin typeface="Helvetica Neue"/>
                <a:ea typeface="Helvetica Neue"/>
                <a:cs typeface="Helvetica Neue"/>
              </a:rPr>
              <a:t>Can news improve</a:t>
            </a:r>
          </a:p>
          <a:p xmlns:a="http://schemas.openxmlformats.org/drawingml/2006/main">
            <a:pPr>
              <a:defRPr sz="6000">
                <a:solidFill>
                  <a:srgbClr val="000000"/>
                </a:solidFill>
                <a:latin typeface="Helvetica Neue"/>
                <a:ea typeface="Helvetica Neue"/>
                <a:cs typeface="Helvetica Neue"/>
              </a:defRPr>
            </a:pPr>
            <a:r>
              <a:rPr sz="6000">
                <a:solidFill>
                  <a:srgbClr val="000000"/>
                </a:solidFill>
                <a:latin typeface="Helvetica Neue"/>
                <a:ea typeface="Helvetica Neue"/>
                <a:cs typeface="Helvetica Neue"/>
              </a:rPr>
              <a:t>QQQ forecasts?</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393700" y="4742208"/>
            <a:ext cx="5702301" cy="1080246"/>
          </a:xfrm>
        </p:spPr>
        <p:txBody>
          <a:bodyPr xmlns:a="http://schemas.openxmlformats.org/drawingml/2006/main">
            <a:noAutofit/>
          </a:bodyPr>
          <a:lstStyle xmlns:a="http://schemas.openxmlformats.org/drawingml/2006/main"/>
          <a:p xmlns:a="http://schemas.openxmlformats.org/drawingml/2006/main">
            <a:pPr>
              <a:lnSpc>
                <a:spcPct val="100000"/>
              </a:lnSpc>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Elad Kulman and Tom Weitman</a:t>
            </a:r>
          </a:p>
          <a:p xmlns:a="http://schemas.openxmlformats.org/drawingml/2006/main">
            <a:pPr>
              <a:lnSpc>
                <a:spcPct val="100000"/>
              </a:lnSpc>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Group 13, Tel Aviv University</a:t>
            </a:r>
          </a:p>
          <a:p xmlns:a="http://schemas.openxmlformats.org/drawingml/2006/main">
            <a:pPr>
              <a:lnSpc>
                <a:spcPct val="100000"/>
              </a:lnSpc>
              <a:buNone/>
              <a:defRPr sz="2250">
                <a:solidFill>
                  <a:srgbClr val="000000"/>
                </a:solidFill>
                <a:latin typeface="Helvetica Neue"/>
                <a:ea typeface="Helvetica Neue"/>
                <a:cs typeface="Helvetica Neue"/>
              </a:defRPr>
            </a:pPr>
            <a:r>
              <a:rPr sz="2250">
                <a:solidFill>
                  <a:srgbClr val="000000"/>
                </a:solidFill>
                <a:latin typeface="Helvetica Neue"/>
                <a:ea typeface="Helvetica Neue"/>
                <a:cs typeface="Helvetica Neue"/>
              </a:rPr>
              <a:t>September 2026</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393700"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950">
                <a:solidFill>
                  <a:srgbClr val="000000"/>
                </a:solidFill>
                <a:latin typeface="Helvetica Neue"/>
                <a:ea typeface="Helvetica Neue"/>
                <a:cs typeface="Helvetica Neue"/>
              </a:defRPr>
            </a:pPr>
            <a:r>
              <a:rPr sz="1950">
                <a:solidFill>
                  <a:srgbClr val="000000"/>
                </a:solidFill>
                <a:latin typeface="Helvetica Neue"/>
                <a:ea typeface="Helvetica Neue"/>
                <a:cs typeface="Helvetica Neue"/>
              </a:rPr>
              <a:t>Workshop on Deep Learning</a:t>
            </a:r>
          </a:p>
        </p:txBody>
      </p:sp>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2598689-54C9-18A7-3A19-ED76AA08988F}" type="slidenum">
              <a:t>2</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Daily returns and forecast uncertainty</a:t>
            </a:r>
          </a:p>
        </p:txBody>
      </p:sp>
      <p:graphicFrame>
        <p:nvGraphicFramePr>
          <p:cNvPr id="540" name="Chart"/>
          <p:cNvGraphicFramePr/>
          <p:nvPr/>
        </p:nvGraphicFramePr>
        <p:xfrm>
          <a:off xmlns:a="http://schemas.openxmlformats.org/drawingml/2006/main" x="393668" y="1666875"/>
          <a:ext xmlns:a="http://schemas.openxmlformats.org/drawingml/2006/main" cx="7429500" cy="3810000"/>
        </p:xfrm>
        <a:graphic xmlns:a="http://schemas.openxmlformats.org/drawingml/2006/main">
          <a:graphicData uri="http://schemas.openxmlformats.org/drawingml/2006/chart">
            <c:chart xmlns:r="http://schemas.openxmlformats.org/officeDocument/2006/relationships" xmlns:c="http://schemas.openxmlformats.org/drawingml/2006/chart" r:id="Rcecf07bfe0504826"/>
          </a:graphicData>
        </a:graphic>
      </p:graphicFrame>
      <p:sp>
        <p:nvSpPr>
          <p:cNvPr id="535" name="">
            <a:extLst xmlns:a="http://schemas.openxmlformats.org/drawingml/2006/main">
              <a:ext uri="{FF2B5EF4-FFF2-40B4-BE49-F238E27FC236}">
                <a16:creationId xmlns:a16="http://schemas.microsoft.com/office/drawing/2014/main" id="{5C8042B1-3938-4CD9-A960-4439ADD2BA67}"/>
              </a:ext>
            </a:extLst>
          </p:cNvPr>
          <p:cNvSpPr>
            <a:spLocks xmlns:a="http://schemas.openxmlformats.org/drawingml/2006/main" noGrp="1"/>
          </p:cNvSpPr>
          <p:nvPr/>
        </p:nvSpPr>
        <p:spPr>
          <a:xfrm xmlns:a="http://schemas.openxmlformats.org/drawingml/2006/main">
            <a:off x="8429625" y="1857375"/>
            <a:ext cx="333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21 quantiles per day</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WQL scores the distribution</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Lower WQL is better</a:t>
            </a:r>
          </a:p>
        </p:txBody>
      </p:sp>
      <p:sp>
        <p:nvSpPr>
          <p:cNvPr id="536" name="">
            <a:extLst xmlns:a="http://schemas.openxmlformats.org/drawingml/2006/main">
              <a:ext uri="{FF2B5EF4-FFF2-40B4-BE49-F238E27FC236}">
                <a16:creationId xmlns:a16="http://schemas.microsoft.com/office/drawing/2014/main" id="{07DAEAA8-E4CB-4276-937E-CBF8A8504C93}"/>
              </a:ext>
            </a:extLst>
          </p:cNvPr>
          <p:cNvSpPr>
            <a:spLocks xmlns:a="http://schemas.openxmlformats.org/drawingml/2006/main" noGrp="1"/>
          </p:cNvSpPr>
          <p:nvPr/>
        </p:nvSpPr>
        <p:spPr>
          <a:xfrm xmlns:a="http://schemas.openxmlformats.org/drawingml/2006/main">
            <a:off x="390525" y="58102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Daily log return (%); Forecast origin: June 27, 2025</a:t>
            </a:r>
          </a:p>
        </p:txBody>
      </p:sp>
    </p:spTree>
    <p:extLst>
      <p:ext uri="{BB962C8B-B14F-4D97-AF65-F5344CB8AC3E}">
        <p14:creationId xmlns:p14="http://schemas.microsoft.com/office/powerpoint/2010/main" val="54622172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202359C0-8A7A-196E-DD58-8E6569619F09}" type="slidenum">
              <a:t>3</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Chronos-2</a:t>
            </a:r>
          </a:p>
        </p:txBody>
      </p:sp>
      <p:sp>
        <p:nvSpPr>
          <p:cNvPr id="534" name="">
            <a:extLst xmlns:a="http://schemas.openxmlformats.org/drawingml/2006/main">
              <a:ext uri="{FF2B5EF4-FFF2-40B4-BE49-F238E27FC236}">
                <a16:creationId xmlns:a16="http://schemas.microsoft.com/office/drawing/2014/main" id="{4EAE46AD-7F76-41E1-A724-9FDE078306A8}"/>
              </a:ext>
            </a:extLst>
          </p:cNvPr>
          <p:cNvSpPr>
            <a:spLocks xmlns:a="http://schemas.openxmlformats.org/drawingml/2006/main" noGrp="1"/>
          </p:cNvSpPr>
          <p:nvPr/>
        </p:nvSpPr>
        <p:spPr>
          <a:xfrm xmlns:a="http://schemas.openxmlformats.org/drawingml/2006/main">
            <a:off x="390525" y="2028825"/>
            <a:ext cx="55245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119.5M base parameters</a:t>
            </a:r>
          </a:p>
          <a:p xmlns:a="http://schemas.openxmlformats.org/drawingml/2006/main">
            <a:r>
              <a:t/>
            </a:r>
          </a:p>
          <a:p xmlns:a="http://schemas.openxmlformats.org/drawingml/2006/main">
            <a:pPr>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512-session context</a:t>
            </a:r>
          </a:p>
          <a:p xmlns:a="http://schemas.openxmlformats.org/drawingml/2006/main">
            <a:r>
              <a:t/>
            </a:r>
          </a:p>
          <a:p xmlns:a="http://schemas.openxmlformats.org/drawingml/2006/main">
            <a:pPr>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21 forecast quantiles</a:t>
            </a:r>
          </a:p>
        </p:txBody>
      </p:sp>
      <p:sp>
        <p:nvSpPr>
          <p:cNvPr id="535" name="">
            <a:extLst xmlns:a="http://schemas.openxmlformats.org/drawingml/2006/main">
              <a:ext uri="{FF2B5EF4-FFF2-40B4-BE49-F238E27FC236}">
                <a16:creationId xmlns:a16="http://schemas.microsoft.com/office/drawing/2014/main" id="{8AF8DF3D-EFC5-4F74-888B-DB76EC168172}"/>
              </a:ext>
            </a:extLst>
          </p:cNvPr>
          <p:cNvSpPr>
            <a:spLocks xmlns:a="http://schemas.openxmlformats.org/drawingml/2006/main" noGrp="1"/>
          </p:cNvSpPr>
          <p:nvPr/>
        </p:nvSpPr>
        <p:spPr>
          <a:xfrm xmlns:a="http://schemas.openxmlformats.org/drawingml/2006/main">
            <a:off x="6267450" y="2028825"/>
            <a:ext cx="55245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Numeric target and covariates</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Attention across time and series</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Future news stays masked</a:t>
            </a:r>
          </a:p>
        </p:txBody>
      </p:sp>
    </p:spTree>
    <p:extLst>
      <p:ext uri="{BB962C8B-B14F-4D97-AF65-F5344CB8AC3E}">
        <p14:creationId xmlns:p14="http://schemas.microsoft.com/office/powerpoint/2010/main" val="54622172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FD6AB9A-5F9E-5F59-51AB-3C8734130965}" type="slidenum">
              <a:t>4</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LoRA adaptation and training windows</a:t>
            </a:r>
          </a:p>
        </p:txBody>
      </p:sp>
      <p:graphicFrame>
        <p:nvGraphicFramePr>
          <p:cNvPr id="539" name=""/>
          <p:cNvGraphicFramePr/>
          <p:nvPr/>
        </p:nvGraphicFramePr>
        <p:xfrm>
          <a:off xmlns:a="http://schemas.openxmlformats.org/drawingml/2006/main" x="393668" y="1857375"/>
          <a:ext xmlns:a="http://schemas.openxmlformats.org/drawingml/2006/main" cx="11404568" cy="2571750"/>
        </p:xfrm>
        <a:graphic xmlns:a="http://schemas.openxmlformats.org/drawingml/2006/main">
          <a:graphicData uri="http://schemas.openxmlformats.org/drawingml/2006/table">
            <a:tbl>
              <a:tblPr/>
              <a:tblGrid>
                <a:gridCol w="5619750"/>
                <a:gridCol w="3333750"/>
                <a:gridCol w="2447925"/>
              </a:tblGrid>
              <a:tr h="642938">
                <a:tc>
                  <a:txBody>
                    <a:bodyPr>
                      <a:noAutofit/>
                    </a:bodyPr>
                    <a:lstStyle/>
                    <a:p>
                      <a:r>
                        <a:rPr sz="2175" b="1">
                          <a:solidFill>
                            <a:srgbClr val="000000"/>
                          </a:solidFill>
                          <a:latin typeface="Helvetica Neue"/>
                          <a:ea typeface="Helvetica Neue"/>
                          <a:cs typeface="Helvetica Neue"/>
                        </a:rPr>
                        <a:t>Recipe</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Windows per update</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Updates</a:t>
                      </a:r>
                    </a:p>
                  </a:txBody>
                  <a:tcPr marL="91440" marR="91440" marT="45720" marB="45720">
                    <a:solidFill>
                      <a:srgbClr val="F2F3F4"/>
                    </a:solidFill>
                  </a:tcPr>
                </a:tc>
              </a:tr>
              <a:tr h="642938">
                <a:tc>
                  <a:txBody>
                    <a:bodyPr>
                      <a:noAutofit/>
                    </a:bodyPr>
                    <a:lstStyle/>
                    <a:p>
                      <a:r>
                        <a:rPr sz="2175" b="0">
                          <a:solidFill>
                            <a:srgbClr val="000000"/>
                          </a:solidFill>
                          <a:latin typeface="Helvetica Neue"/>
                          <a:ea typeface="Helvetica Neue"/>
                          <a:cs typeface="Helvetica Neue"/>
                        </a:rPr>
                        <a:t>Initial source screen</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About 1</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200</a:t>
                      </a:r>
                    </a:p>
                  </a:txBody>
                  <a:tcPr marL="91440" marR="91440" marT="45720" marB="45720">
                    <a:solidFill>
                      <a:srgbClr val="FFFFFF"/>
                    </a:solidFill>
                  </a:tcPr>
                </a:tc>
              </a:tr>
              <a:tr h="642938">
                <a:tc>
                  <a:txBody>
                    <a:bodyPr>
                      <a:noAutofit/>
                    </a:bodyPr>
                    <a:lstStyle/>
                    <a:p>
                      <a:r>
                        <a:rPr sz="2175" b="0">
                          <a:solidFill>
                            <a:srgbClr val="000000"/>
                          </a:solidFill>
                          <a:latin typeface="Helvetica Neue"/>
                          <a:ea typeface="Helvetica Neue"/>
                          <a:cs typeface="Helvetica Neue"/>
                        </a:rPr>
                        <a:t>Later standard rungs</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8</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500</a:t>
                      </a:r>
                    </a:p>
                  </a:txBody>
                  <a:tcPr marL="91440" marR="91440" marT="45720" marB="45720">
                    <a:solidFill>
                      <a:srgbClr val="FFFFFF"/>
                    </a:solidFill>
                  </a:tcPr>
                </a:tc>
              </a:tr>
              <a:tr h="642938">
                <a:tc>
                  <a:txBody>
                    <a:bodyPr>
                      <a:noAutofit/>
                    </a:bodyPr>
                    <a:lstStyle/>
                    <a:p>
                      <a:r>
                        <a:rPr sz="2175" b="0">
                          <a:solidFill>
                            <a:srgbClr val="000000"/>
                          </a:solidFill>
                          <a:latin typeface="Helvetica Neue"/>
                          <a:ea typeface="Helvetica Neue"/>
                          <a:cs typeface="Helvetica Neue"/>
                        </a:rPr>
                        <a:t>All external + matched control</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4</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1,000</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B6A61D2B-28A1-4BFE-92AE-46A2FFA02938}"/>
              </a:ext>
            </a:extLst>
          </p:cNvPr>
          <p:cNvSpPr>
            <a:spLocks xmlns:a="http://schemas.openxmlformats.org/drawingml/2006/main" noGrp="1"/>
          </p:cNvSpPr>
          <p:nvPr/>
        </p:nvSpPr>
        <p:spPr>
          <a:xfrm xmlns:a="http://schemas.openxmlformats.org/drawingml/2006/main">
            <a:off x="390525" y="4810125"/>
            <a:ext cx="114014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1.2M trainable parameters  /  rank 8</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Same original checkpoint for every fit</a:t>
            </a:r>
          </a:p>
        </p:txBody>
      </p:sp>
    </p:spTree>
    <p:extLst>
      <p:ext uri="{BB962C8B-B14F-4D97-AF65-F5344CB8AC3E}">
        <p14:creationId xmlns:p14="http://schemas.microsoft.com/office/powerpoint/2010/main" val="54622172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E5B3003-2C54-13C6-9832-7637201064DE}" type="slidenum">
              <a:t>5</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Public data and the availability rule</a:t>
            </a:r>
          </a:p>
        </p:txBody>
      </p:sp>
      <p:sp>
        <p:nvSpPr>
          <p:cNvPr id="534" name="">
            <a:extLst xmlns:a="http://schemas.openxmlformats.org/drawingml/2006/main">
              <a:ext uri="{FF2B5EF4-FFF2-40B4-BE49-F238E27FC236}">
                <a16:creationId xmlns:a16="http://schemas.microsoft.com/office/drawing/2014/main" id="{AE7C2104-CDC6-4A6B-8479-94100CDEDA87}"/>
              </a:ext>
            </a:extLst>
          </p:cNvPr>
          <p:cNvSpPr>
            <a:spLocks xmlns:a="http://schemas.openxmlformats.org/drawingml/2006/main" noGrp="1"/>
          </p:cNvSpPr>
          <p:nvPr/>
        </p:nvSpPr>
        <p:spPr>
          <a:xfrm xmlns:a="http://schemas.openxmlformats.org/drawingml/2006/main">
            <a:off x="390525" y="2028825"/>
            <a:ext cx="5524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Markets and macroeconomics</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Scheduled events</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EPU / EMU uncertainty</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FOMC statements and SEC</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Six GDELT topic pairs</a:t>
            </a:r>
          </a:p>
        </p:txBody>
      </p:sp>
      <p:sp>
        <p:nvSpPr>
          <p:cNvPr id="535" name="">
            <a:extLst xmlns:a="http://schemas.openxmlformats.org/drawingml/2006/main">
              <a:ext uri="{FF2B5EF4-FFF2-40B4-BE49-F238E27FC236}">
                <a16:creationId xmlns:a16="http://schemas.microsoft.com/office/drawing/2014/main" id="{5E6F9E73-9F32-45A7-B544-841550981F91}"/>
              </a:ext>
            </a:extLst>
          </p:cNvPr>
          <p:cNvSpPr>
            <a:spLocks xmlns:a="http://schemas.openxmlformats.org/drawingml/2006/main" noGrp="1"/>
          </p:cNvSpPr>
          <p:nvPr/>
        </p:nvSpPr>
        <p:spPr>
          <a:xfrm xmlns:a="http://schemas.openxmlformats.org/drawingml/2006/main">
            <a:off x="6267450" y="2028825"/>
            <a:ext cx="5524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CPI example</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July observation</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August publication</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Usable only after release</a:t>
            </a:r>
          </a:p>
        </p:txBody>
      </p:sp>
      <p:sp>
        <p:nvSpPr>
          <p:cNvPr id="536" name="">
            <a:extLst xmlns:a="http://schemas.openxmlformats.org/drawingml/2006/main">
              <a:ext uri="{FF2B5EF4-FFF2-40B4-BE49-F238E27FC236}">
                <a16:creationId xmlns:a16="http://schemas.microsoft.com/office/drawing/2014/main" id="{44151987-A613-4A0B-AC70-8B5BE725928B}"/>
              </a:ext>
            </a:extLst>
          </p:cNvPr>
          <p:cNvSpPr>
            <a:spLocks xmlns:a="http://schemas.openxmlformats.org/drawingml/2006/main" noGrp="1"/>
          </p:cNvSpPr>
          <p:nvPr/>
        </p:nvSpPr>
        <p:spPr>
          <a:xfrm xmlns:a="http://schemas.openxmlformats.org/drawingml/2006/main">
            <a:off x="390525" y="581025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7B8188"/>
                </a:solidFill>
                <a:latin typeface="Helvetica Neue"/>
                <a:ea typeface="Helvetica Neue"/>
                <a:cs typeface="Helvetica Neue"/>
              </a:defRPr>
            </a:pPr>
            <a:r>
              <a:rPr sz="1800" b="0">
                <a:solidFill>
                  <a:srgbClr val="7B8188"/>
                </a:solidFill>
                <a:latin typeface="Helvetica Neue"/>
                <a:ea typeface="Helvetica Neue"/>
                <a:cs typeface="Helvetica Neue"/>
              </a:rPr>
              <a:t>77-column inventory. News comparisons begin in 2017.</a:t>
            </a:r>
          </a:p>
        </p:txBody>
      </p:sp>
    </p:spTree>
    <p:extLst>
      <p:ext uri="{BB962C8B-B14F-4D97-AF65-F5344CB8AC3E}">
        <p14:creationId xmlns:p14="http://schemas.microsoft.com/office/powerpoint/2010/main" val="54622172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8C630A04-5A25-9E0C-9436-126091DB86B3}" type="slidenum">
              <a:t>6</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Two completed experiment rounds</a:t>
            </a:r>
          </a:p>
        </p:txBody>
      </p:sp>
      <p:graphicFrame>
        <p:nvGraphicFramePr>
          <p:cNvPr id="539" name=""/>
          <p:cNvGraphicFramePr/>
          <p:nvPr/>
        </p:nvGraphicFramePr>
        <p:xfrm>
          <a:off xmlns:a="http://schemas.openxmlformats.org/drawingml/2006/main" x="393668" y="1857375"/>
          <a:ext xmlns:a="http://schemas.openxmlformats.org/drawingml/2006/main" cx="11404568" cy="3571875"/>
        </p:xfrm>
        <a:graphic xmlns:a="http://schemas.openxmlformats.org/drawingml/2006/main">
          <a:graphicData uri="http://schemas.openxmlformats.org/drawingml/2006/table">
            <a:tbl>
              <a:tblPr/>
              <a:tblGrid>
                <a:gridCol w="3524250"/>
                <a:gridCol w="3714750"/>
                <a:gridCol w="4162425"/>
              </a:tblGrid>
              <a:tr h="595313">
                <a:tc>
                  <a:txBody>
                    <a:bodyPr>
                      <a:noAutofit/>
                    </a:bodyPr>
                    <a:lstStyle/>
                    <a:p>
                      <a:r>
                        <a:rPr sz="2025" b="1">
                          <a:solidFill>
                            <a:srgbClr val="000000"/>
                          </a:solidFill>
                          <a:latin typeface="Helvetica Neue"/>
                          <a:ea typeface="Helvetica Neue"/>
                          <a:cs typeface="Helvetica Neue"/>
                        </a:rPr>
                        <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Initial screen</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Four-year study</a:t>
                      </a:r>
                    </a:p>
                  </a:txBody>
                  <a:tcPr marL="91440" marR="91440" marT="45720" marB="45720">
                    <a:solidFill>
                      <a:srgbClr val="F2F3F4"/>
                    </a:solidFill>
                  </a:tcPr>
                </a:tc>
              </a:tr>
              <a:tr h="595313">
                <a:tc>
                  <a:txBody>
                    <a:bodyPr>
                      <a:noAutofit/>
                    </a:bodyPr>
                    <a:lstStyle/>
                    <a:p>
                      <a:r>
                        <a:rPr sz="2025" b="0">
                          <a:solidFill>
                            <a:srgbClr val="000000"/>
                          </a:solidFill>
                          <a:latin typeface="Helvetica Neue"/>
                          <a:ea typeface="Helvetica Neue"/>
                          <a:cs typeface="Helvetica Neue"/>
                        </a:rPr>
                        <a:t>Test period</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Jun 2025-Jun 2026</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2022, 2023, 2024, 2025</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Scored daily returns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250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1,000</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LoRA fits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18</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108</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Feature design</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One source added to control</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Cumulative groups</a:t>
                      </a:r>
                    </a:p>
                  </a:txBody>
                  <a:tcPr marL="91440" marR="91440" marT="45720" marB="45720">
                    <a:solidFill>
                      <a:srgbClr val="FFFFFF"/>
                    </a:solidFill>
                  </a:tcPr>
                </a:tc>
              </a:tr>
              <a:tr h="595313">
                <a:tc>
                  <a:txBody>
                    <a:bodyPr>
                      <a:noAutofit/>
                    </a:bodyPr>
                    <a:lstStyle/>
                    <a:p>
                      <a:r>
                        <a:rPr sz="2025" b="0">
                          <a:solidFill>
                            <a:srgbClr val="000000"/>
                          </a:solidFill>
                          <a:latin typeface="Helvetica Neue"/>
                          <a:ea typeface="Helvetica Neue"/>
                          <a:cs typeface="Helvetica Neue"/>
                        </a:rPr>
                        <a:t>Repetitions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Selected configurations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Three seeds throughout</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0398EDD6-7F38-4796-A4AC-2E3B0F801291}"/>
              </a:ext>
            </a:extLst>
          </p:cNvPr>
          <p:cNvSpPr>
            <a:spLocks xmlns:a="http://schemas.openxmlformats.org/drawingml/2006/main" noGrp="1"/>
          </p:cNvSpPr>
          <p:nvPr/>
        </p:nvSpPr>
        <p:spPr>
          <a:xfrm xmlns:a="http://schemas.openxmlformats.org/drawingml/2006/main">
            <a:off x="390525" y="5810250"/>
            <a:ext cx="11401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7B8188"/>
                </a:solidFill>
                <a:latin typeface="Helvetica Neue"/>
                <a:ea typeface="Helvetica Neue"/>
                <a:cs typeface="Helvetica Neue"/>
              </a:defRPr>
            </a:pPr>
            <a:r>
              <a:rPr sz="1800" b="0">
                <a:solidFill>
                  <a:srgbClr val="7B8188"/>
                </a:solidFill>
                <a:latin typeface="Helvetica Neue"/>
                <a:ea typeface="Helvetica Neue"/>
                <a:cs typeface="Helvetica Neue"/>
              </a:rPr>
              <a:t>Same dates within each comparison. Five-day horizon throughout.</a:t>
            </a:r>
          </a:p>
        </p:txBody>
      </p:sp>
    </p:spTree>
    <p:extLst>
      <p:ext uri="{BB962C8B-B14F-4D97-AF65-F5344CB8AC3E}">
        <p14:creationId xmlns:p14="http://schemas.microsoft.com/office/powerpoint/2010/main" val="54622172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D3D7D1C8-AE23-AA48-DF65-C742588DBE47}" type="slidenum">
              <a:t>7</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The initial source gains were small</a:t>
            </a:r>
          </a:p>
        </p:txBody>
      </p:sp>
      <p:graphicFrame>
        <p:nvGraphicFramePr>
          <p:cNvPr id="539" name=""/>
          <p:cNvGraphicFramePr/>
          <p:nvPr/>
        </p:nvGraphicFramePr>
        <p:xfrm>
          <a:off xmlns:a="http://schemas.openxmlformats.org/drawingml/2006/main" x="393668" y="1857375"/>
          <a:ext xmlns:a="http://schemas.openxmlformats.org/drawingml/2006/main" cx="11404568" cy="2714625"/>
        </p:xfrm>
        <a:graphic xmlns:a="http://schemas.openxmlformats.org/drawingml/2006/main">
          <a:graphicData uri="http://schemas.openxmlformats.org/drawingml/2006/table">
            <a:tbl>
              <a:tblPr/>
              <a:tblGrid>
                <a:gridCol w="4000500"/>
                <a:gridCol w="3524250"/>
                <a:gridCol w="3876675"/>
              </a:tblGrid>
              <a:tr h="678656">
                <a:tc>
                  <a:txBody>
                    <a:bodyPr>
                      <a:noAutofit/>
                    </a:bodyPr>
                    <a:lstStyle/>
                    <a:p>
                      <a:r>
                        <a:rPr sz="2175" b="1">
                          <a:solidFill>
                            <a:srgbClr val="000000"/>
                          </a:solidFill>
                          <a:latin typeface="Helvetica Neue"/>
                          <a:ea typeface="Helvetica Neue"/>
                          <a:cs typeface="Helvetica Neue"/>
                        </a:rPr>
                        <a:t>Round A finding</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Observed change</a:t>
                      </a:r>
                    </a:p>
                  </a:txBody>
                  <a:tcPr marL="91440" marR="91440" marT="45720" marB="45720">
                    <a:solidFill>
                      <a:srgbClr val="F2F3F4"/>
                    </a:solidFill>
                  </a:tcPr>
                </a:tc>
                <a:tc>
                  <a:txBody>
                    <a:bodyPr>
                      <a:noAutofit/>
                    </a:bodyPr>
                    <a:lstStyle/>
                    <a:p>
                      <a:r>
                        <a:rPr sz="2175" b="1">
                          <a:solidFill>
                            <a:srgbClr val="000000"/>
                          </a:solidFill>
                          <a:latin typeface="Helvetica Neue"/>
                          <a:ea typeface="Helvetica Neue"/>
                          <a:cs typeface="Helvetica Neue"/>
                        </a:rPr>
                        <a:t>Qualification</a:t>
                      </a:r>
                    </a:p>
                  </a:txBody>
                  <a:tcPr marL="91440" marR="91440" marT="45720" marB="45720">
                    <a:solidFill>
                      <a:srgbClr val="F2F3F4"/>
                    </a:solidFill>
                  </a:tcPr>
                </a:tc>
              </a:tr>
              <a:tr h="678656">
                <a:tc>
                  <a:txBody>
                    <a:bodyPr>
                      <a:noAutofit/>
                    </a:bodyPr>
                    <a:lstStyle/>
                    <a:p>
                      <a:r>
                        <a:rPr sz="2175" b="0">
                          <a:solidFill>
                            <a:srgbClr val="000000"/>
                          </a:solidFill>
                          <a:latin typeface="Helvetica Neue"/>
                          <a:ea typeface="Helvetica Neue"/>
                          <a:cs typeface="Helvetica Neue"/>
                        </a:rPr>
                        <a:t>Fed topic, seed 42</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1.28% lower WQL</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One training seed</a:t>
                      </a:r>
                    </a:p>
                  </a:txBody>
                  <a:tcPr marL="91440" marR="91440" marT="45720" marB="45720">
                    <a:solidFill>
                      <a:srgbClr val="FFFFFF"/>
                    </a:solidFill>
                  </a:tcPr>
                </a:tc>
              </a:tr>
              <a:tr h="678656">
                <a:tc>
                  <a:txBody>
                    <a:bodyPr>
                      <a:noAutofit/>
                    </a:bodyPr>
                    <a:lstStyle/>
                    <a:p>
                      <a:r>
                        <a:rPr sz="2175" b="0">
                          <a:solidFill>
                            <a:srgbClr val="000000"/>
                          </a:solidFill>
                          <a:latin typeface="Helvetica Neue"/>
                          <a:ea typeface="Helvetica Neue"/>
                          <a:cs typeface="Helvetica Neue"/>
                        </a:rPr>
                        <a:t>All external, three seeds</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0.60% lower mean WQL</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Interval includes zero</a:t>
                      </a:r>
                    </a:p>
                  </a:txBody>
                  <a:tcPr marL="91440" marR="91440" marT="45720" marB="45720">
                    <a:solidFill>
                      <a:srgbClr val="FFFFFF"/>
                    </a:solidFill>
                  </a:tcPr>
                </a:tc>
              </a:tr>
              <a:tr h="678656">
                <a:tc>
                  <a:txBody>
                    <a:bodyPr>
                      <a:noAutofit/>
                    </a:bodyPr>
                    <a:lstStyle/>
                    <a:p>
                      <a:r>
                        <a:rPr sz="2175" b="0">
                          <a:solidFill>
                            <a:srgbClr val="000000"/>
                          </a:solidFill>
                          <a:latin typeface="Helvetica Neue"/>
                          <a:ea typeface="Helvetica Neue"/>
                          <a:cs typeface="Helvetica Neue"/>
                        </a:rPr>
                        <a:t>Fed direction</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144 / 250 correct</a:t>
                      </a:r>
                    </a:p>
                  </a:txBody>
                  <a:tcPr marL="91440" marR="91440" marT="45720" marB="45720">
                    <a:solidFill>
                      <a:srgbClr val="FFFFFF"/>
                    </a:solidFill>
                  </a:tcPr>
                </a:tc>
                <a:tc>
                  <a:txBody>
                    <a:bodyPr>
                      <a:noAutofit/>
                    </a:bodyPr>
                    <a:lstStyle/>
                    <a:p>
                      <a:r>
                        <a:rPr sz="2175" b="0">
                          <a:solidFill>
                            <a:srgbClr val="000000"/>
                          </a:solidFill>
                          <a:latin typeface="Helvetica Neue"/>
                          <a:ea typeface="Helvetica Neue"/>
                          <a:cs typeface="Helvetica Neue"/>
                        </a:rPr>
                        <a:t>Always-up: 143 / 250</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9698C307-5588-4DFA-BEF6-EA1919D2CD36}"/>
              </a:ext>
            </a:extLst>
          </p:cNvPr>
          <p:cNvSpPr>
            <a:spLocks xmlns:a="http://schemas.openxmlformats.org/drawingml/2006/main" noGrp="1"/>
          </p:cNvSpPr>
          <p:nvPr/>
        </p:nvSpPr>
        <p:spPr>
          <a:xfrm xmlns:a="http://schemas.openxmlformats.org/drawingml/2006/main">
            <a:off x="390525" y="50958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0">
                <a:solidFill>
                  <a:srgbClr val="000000"/>
                </a:solidFill>
                <a:latin typeface="Helvetica Neue"/>
                <a:ea typeface="Helvetica Neue"/>
                <a:cs typeface="Helvetica Neue"/>
              </a:defRPr>
            </a:pPr>
            <a:r>
              <a:rPr sz="2550" b="0">
                <a:solidFill>
                  <a:srgbClr val="000000"/>
                </a:solidFill>
                <a:latin typeface="Helvetica Neue"/>
                <a:ea typeface="Helvetica Neue"/>
                <a:cs typeface="Helvetica Neue"/>
              </a:rPr>
              <a:t>Candidate improvements motivated the larger evaluation</a:t>
            </a:r>
          </a:p>
        </p:txBody>
      </p:sp>
    </p:spTree>
    <p:extLst>
      <p:ext uri="{BB962C8B-B14F-4D97-AF65-F5344CB8AC3E}">
        <p14:creationId xmlns:p14="http://schemas.microsoft.com/office/powerpoint/2010/main" val="54622172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BA58DA2A-B818-18A9-29C1-B697728D5BCE}" type="slidenum">
              <a:t>8</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Overall adaptation gains remain unresolved</a:t>
            </a:r>
          </a:p>
        </p:txBody>
      </p:sp>
      <p:graphicFrame>
        <p:nvGraphicFramePr>
          <p:cNvPr id="540" name="Chart"/>
          <p:cNvGraphicFramePr/>
          <p:nvPr/>
        </p:nvGraphicFramePr>
        <p:xfrm>
          <a:off xmlns:a="http://schemas.openxmlformats.org/drawingml/2006/main" x="393668" y="1666875"/>
          <a:ext xmlns:a="http://schemas.openxmlformats.org/drawingml/2006/main" cx="8096250" cy="4000500"/>
        </p:xfrm>
        <a:graphic xmlns:a="http://schemas.openxmlformats.org/drawingml/2006/main">
          <a:graphicData uri="http://schemas.openxmlformats.org/drawingml/2006/chart">
            <c:chart xmlns:r="http://schemas.openxmlformats.org/officeDocument/2006/relationships" xmlns:c="http://schemas.openxmlformats.org/drawingml/2006/chart" r:id="R76912301f55941a2"/>
          </a:graphicData>
        </a:graphic>
      </p:graphicFrame>
      <p:sp>
        <p:nvSpPr>
          <p:cNvPr id="535" name="">
            <a:extLst xmlns:a="http://schemas.openxmlformats.org/drawingml/2006/main">
              <a:ext uri="{FF2B5EF4-FFF2-40B4-BE49-F238E27FC236}">
                <a16:creationId xmlns:a16="http://schemas.microsoft.com/office/drawing/2014/main" id="{6412D48A-F986-4F2F-9D99-87144FBE0D48}"/>
              </a:ext>
            </a:extLst>
          </p:cNvPr>
          <p:cNvSpPr>
            <a:spLocks xmlns:a="http://schemas.openxmlformats.org/drawingml/2006/main" noGrp="1"/>
          </p:cNvSpPr>
          <p:nvPr/>
        </p:nvSpPr>
        <p:spPr>
          <a:xfrm xmlns:a="http://schemas.openxmlformats.org/drawingml/2006/main">
            <a:off x="8953500" y="2000250"/>
            <a:ext cx="27622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Four calendar years</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Three seeds</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Every pooled adaptation interval includes zero</a:t>
            </a:r>
          </a:p>
        </p:txBody>
      </p:sp>
      <p:sp>
        <p:nvSpPr>
          <p:cNvPr id="536" name="">
            <a:extLst xmlns:a="http://schemas.openxmlformats.org/drawingml/2006/main">
              <a:ext uri="{FF2B5EF4-FFF2-40B4-BE49-F238E27FC236}">
                <a16:creationId xmlns:a16="http://schemas.microsoft.com/office/drawing/2014/main" id="{2A30F9C2-7136-4F59-8CB1-967DF896BCB0}"/>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WQL, lower is better. Cumulative feature groups. Axis shows a narrow range.</a:t>
            </a:r>
          </a:p>
        </p:txBody>
      </p:sp>
    </p:spTree>
    <p:extLst>
      <p:ext uri="{BB962C8B-B14F-4D97-AF65-F5344CB8AC3E}">
        <p14:creationId xmlns:p14="http://schemas.microsoft.com/office/powerpoint/2010/main" val="54622172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88657AE-30A1-5A7A-6A7F-315D84436430}" type="slidenum">
              <a:t>9</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All external does not outperform matched control</a:t>
            </a:r>
          </a:p>
        </p:txBody>
      </p:sp>
      <p:graphicFrame>
        <p:nvGraphicFramePr>
          <p:cNvPr id="541" name="Chart"/>
          <p:cNvGraphicFramePr/>
          <p:nvPr/>
        </p:nvGraphicFramePr>
        <p:xfrm>
          <a:off xmlns:a="http://schemas.openxmlformats.org/drawingml/2006/main" x="393668" y="1666875"/>
          <a:ext xmlns:a="http://schemas.openxmlformats.org/drawingml/2006/main" cx="7905750" cy="4000500"/>
        </p:xfrm>
        <a:graphic xmlns:a="http://schemas.openxmlformats.org/drawingml/2006/main">
          <a:graphicData uri="http://schemas.openxmlformats.org/drawingml/2006/chart">
            <c:chart xmlns:r="http://schemas.openxmlformats.org/officeDocument/2006/relationships" xmlns:c="http://schemas.openxmlformats.org/drawingml/2006/chart" r:id="R81e77fa5d38746f5"/>
          </a:graphicData>
        </a:graphic>
      </p:graphicFrame>
      <p:sp>
        <p:nvSpPr>
          <p:cNvPr id="535" name="">
            <a:extLst xmlns:a="http://schemas.openxmlformats.org/drawingml/2006/main">
              <a:ext uri="{FF2B5EF4-FFF2-40B4-BE49-F238E27FC236}">
                <a16:creationId xmlns:a16="http://schemas.microsoft.com/office/drawing/2014/main" id="{A4441853-AD46-4FC7-9DEC-1756BB8C26C6}"/>
              </a:ext>
            </a:extLst>
          </p:cNvPr>
          <p:cNvSpPr>
            <a:spLocks xmlns:a="http://schemas.openxmlformats.org/drawingml/2006/main" noGrp="1"/>
          </p:cNvSpPr>
          <p:nvPr/>
        </p:nvSpPr>
        <p:spPr>
          <a:xfrm xmlns:a="http://schemas.openxmlformats.org/drawingml/2006/main">
            <a:off x="8763000" y="2000250"/>
            <a:ext cx="300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050" b="0">
                <a:solidFill>
                  <a:srgbClr val="3D8DFF"/>
                </a:solidFill>
                <a:latin typeface="Helvetica Neue"/>
                <a:ea typeface="Helvetica Neue"/>
                <a:cs typeface="Helvetica Neue"/>
              </a:defRPr>
            </a:pPr>
            <a:r>
              <a:rPr sz="4050" b="0">
                <a:solidFill>
                  <a:srgbClr val="3D8DFF"/>
                </a:solidFill>
                <a:latin typeface="Helvetica Neue"/>
                <a:ea typeface="Helvetica Neue"/>
                <a:cs typeface="Helvetica Neue"/>
              </a:rPr>
              <a:t>+0.00126</a:t>
            </a:r>
          </a:p>
        </p:txBody>
      </p:sp>
      <p:sp>
        <p:nvSpPr>
          <p:cNvPr id="536" name="">
            <a:extLst xmlns:a="http://schemas.openxmlformats.org/drawingml/2006/main">
              <a:ext uri="{FF2B5EF4-FFF2-40B4-BE49-F238E27FC236}">
                <a16:creationId xmlns:a16="http://schemas.microsoft.com/office/drawing/2014/main" id="{93E4E4EC-0C16-49DD-94EE-C71C721B8413}"/>
              </a:ext>
            </a:extLst>
          </p:cNvPr>
          <p:cNvSpPr>
            <a:spLocks xmlns:a="http://schemas.openxmlformats.org/drawingml/2006/main" noGrp="1"/>
          </p:cNvSpPr>
          <p:nvPr/>
        </p:nvSpPr>
        <p:spPr>
          <a:xfrm xmlns:a="http://schemas.openxmlformats.org/drawingml/2006/main">
            <a:off x="8763000" y="2905125"/>
            <a:ext cx="300037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All external minus control</a:t>
            </a:r>
          </a:p>
          <a:p xmlns:a="http://schemas.openxmlformats.org/drawingml/2006/main">
            <a:r>
              <a:t/>
            </a:r>
          </a:p>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95% interval</a:t>
            </a:r>
          </a:p>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[-0.00095, +0.00369]</a:t>
            </a:r>
          </a:p>
        </p:txBody>
      </p:sp>
      <p:sp>
        <p:nvSpPr>
          <p:cNvPr id="537" name="">
            <a:extLst xmlns:a="http://schemas.openxmlformats.org/drawingml/2006/main">
              <a:ext uri="{FF2B5EF4-FFF2-40B4-BE49-F238E27FC236}">
                <a16:creationId xmlns:a16="http://schemas.microsoft.com/office/drawing/2014/main" id="{801FE1B8-0B60-417E-B910-3D8AF01707CF}"/>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WQL. Matched recipe. Circular blocks of five forecast windows within each year.</a:t>
            </a:r>
          </a:p>
        </p:txBody>
      </p:sp>
    </p:spTree>
    <p:extLst>
      <p:ext uri="{BB962C8B-B14F-4D97-AF65-F5344CB8AC3E}">
        <p14:creationId xmlns:p14="http://schemas.microsoft.com/office/powerpoint/2010/main" val="54622172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DB7BEEEC-A170-5376-2B6E-CB54687B0CB1}" type="slidenum">
              <a:t>10</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Input-importance patterns change relatively little</a:t>
            </a:r>
          </a:p>
        </p:txBody>
      </p:sp>
      <p:graphicFrame>
        <p:nvGraphicFramePr>
          <p:cNvPr id="541" name="Chart"/>
          <p:cNvGraphicFramePr/>
          <p:nvPr/>
        </p:nvGraphicFramePr>
        <p:xfrm>
          <a:off xmlns:a="http://schemas.openxmlformats.org/drawingml/2006/main" x="393668" y="1666875"/>
          <a:ext xmlns:a="http://schemas.openxmlformats.org/drawingml/2006/main" cx="8096250" cy="4000500"/>
        </p:xfrm>
        <a:graphic xmlns:a="http://schemas.openxmlformats.org/drawingml/2006/main">
          <a:graphicData uri="http://schemas.openxmlformats.org/drawingml/2006/chart">
            <c:chart xmlns:r="http://schemas.openxmlformats.org/officeDocument/2006/relationships" xmlns:c="http://schemas.openxmlformats.org/drawingml/2006/chart" r:id="Rd6b48d6b80e0445b"/>
          </a:graphicData>
        </a:graphic>
      </p:graphicFrame>
      <p:sp>
        <p:nvSpPr>
          <p:cNvPr id="535" name="">
            <a:extLst xmlns:a="http://schemas.openxmlformats.org/drawingml/2006/main">
              <a:ext uri="{FF2B5EF4-FFF2-40B4-BE49-F238E27FC236}">
                <a16:creationId xmlns:a16="http://schemas.microsoft.com/office/drawing/2014/main" id="{F0803C8B-6457-411A-8118-FE3F350BA7A7}"/>
              </a:ext>
            </a:extLst>
          </p:cNvPr>
          <p:cNvSpPr>
            <a:spLocks xmlns:a="http://schemas.openxmlformats.org/drawingml/2006/main" noGrp="1"/>
          </p:cNvSpPr>
          <p:nvPr/>
        </p:nvSpPr>
        <p:spPr>
          <a:xfrm xmlns:a="http://schemas.openxmlformats.org/drawingml/2006/main">
            <a:off x="8953500" y="2095500"/>
            <a:ext cx="276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0">
                <a:solidFill>
                  <a:srgbClr val="3D8DFF"/>
                </a:solidFill>
                <a:latin typeface="Helvetica Neue"/>
                <a:ea typeface="Helvetica Neue"/>
                <a:cs typeface="Helvetica Neue"/>
              </a:defRPr>
            </a:pPr>
            <a:r>
              <a:rPr sz="3900" b="0">
                <a:solidFill>
                  <a:srgbClr val="3D8DFF"/>
                </a:solidFill>
                <a:latin typeface="Helvetica Neue"/>
                <a:ea typeface="Helvetica Neue"/>
                <a:cs typeface="Helvetica Neue"/>
              </a:rPr>
              <a:t>0.91-0.98</a:t>
            </a:r>
          </a:p>
        </p:txBody>
      </p:sp>
      <p:sp>
        <p:nvSpPr>
          <p:cNvPr id="536" name="">
            <a:extLst xmlns:a="http://schemas.openxmlformats.org/drawingml/2006/main">
              <a:ext uri="{FF2B5EF4-FFF2-40B4-BE49-F238E27FC236}">
                <a16:creationId xmlns:a16="http://schemas.microsoft.com/office/drawing/2014/main" id="{7C6EDFEA-760D-47CC-8991-A314A1DDADBA}"/>
              </a:ext>
            </a:extLst>
          </p:cNvPr>
          <p:cNvSpPr>
            <a:spLocks xmlns:a="http://schemas.openxmlformats.org/drawingml/2006/main" noGrp="1"/>
          </p:cNvSpPr>
          <p:nvPr/>
        </p:nvSpPr>
        <p:spPr>
          <a:xfrm xmlns:a="http://schemas.openxmlformats.org/drawingml/2006/main">
            <a:off x="8953500" y="3000375"/>
            <a:ext cx="2762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Profile correlations</a:t>
            </a:r>
          </a:p>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across six paired tests</a:t>
            </a:r>
          </a:p>
          <a:p xmlns:a="http://schemas.openxmlformats.org/drawingml/2006/main">
            <a:r>
              <a:t/>
            </a:r>
          </a:p>
          <a:p xmlns:a="http://schemas.openxmlformats.org/drawingml/2006/main">
            <a:pPr>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Small changes remain</a:t>
            </a:r>
          </a:p>
        </p:txBody>
      </p:sp>
      <p:sp>
        <p:nvSpPr>
          <p:cNvPr id="537" name="">
            <a:extLst xmlns:a="http://schemas.openxmlformats.org/drawingml/2006/main">
              <a:ext uri="{FF2B5EF4-FFF2-40B4-BE49-F238E27FC236}">
                <a16:creationId xmlns:a16="http://schemas.microsoft.com/office/drawing/2014/main" id="{4FF5279F-B35F-42E2-B79B-CF97A7483E5F}"/>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7B8188"/>
                </a:solidFill>
                <a:latin typeface="Helvetica Neue"/>
                <a:ea typeface="Helvetica Neue"/>
                <a:cs typeface="Helvetica Neue"/>
              </a:defRPr>
            </a:pPr>
            <a:r>
              <a:rPr sz="1650" b="0">
                <a:solidFill>
                  <a:srgbClr val="7B8188"/>
                </a:solidFill>
                <a:latin typeface="Helvetica Neue"/>
                <a:ea typeface="Helvetica Neue"/>
                <a:cs typeface="Helvetica Neue"/>
              </a:rPr>
              <a:t>Scrambled minus original WQL x 1,000. Mean effects, seed 42. Local window normalization.</a:t>
            </a:r>
          </a:p>
        </p:txBody>
      </p:sp>
    </p:spTree>
    <p:extLst>
      <p:ext uri="{BB962C8B-B14F-4D97-AF65-F5344CB8AC3E}">
        <p14:creationId xmlns:p14="http://schemas.microsoft.com/office/powerpoint/2010/main" val="54622172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0394428-F1DC-E5F6-DB0C-7DE31F3D8A23}" type="slidenum">
              <a:t>11</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Fine-tuning widens the forecast intervals</a:t>
            </a:r>
          </a:p>
        </p:txBody>
      </p:sp>
      <p:graphicFrame>
        <p:nvGraphicFramePr>
          <p:cNvPr id="541" name="Chart"/>
          <p:cNvGraphicFramePr/>
          <p:nvPr/>
        </p:nvGraphicFramePr>
        <p:xfrm>
          <a:off xmlns:a="http://schemas.openxmlformats.org/drawingml/2006/main" x="393668" y="1666875"/>
          <a:ext xmlns:a="http://schemas.openxmlformats.org/drawingml/2006/main" cx="8096250" cy="4000500"/>
        </p:xfrm>
        <a:graphic xmlns:a="http://schemas.openxmlformats.org/drawingml/2006/main">
          <a:graphicData uri="http://schemas.openxmlformats.org/drawingml/2006/chart">
            <c:chart xmlns:r="http://schemas.openxmlformats.org/officeDocument/2006/relationships" xmlns:c="http://schemas.openxmlformats.org/drawingml/2006/chart" r:id="R0dc9704ad78b4177"/>
          </a:graphicData>
        </a:graphic>
      </p:graphicFrame>
      <p:sp>
        <p:nvSpPr>
          <p:cNvPr id="535" name="">
            <a:extLst xmlns:a="http://schemas.openxmlformats.org/drawingml/2006/main">
              <a:ext uri="{FF2B5EF4-FFF2-40B4-BE49-F238E27FC236}">
                <a16:creationId xmlns:a16="http://schemas.microsoft.com/office/drawing/2014/main" id="{65A43D12-1238-470F-A07C-23861A228CA5}"/>
              </a:ext>
            </a:extLst>
          </p:cNvPr>
          <p:cNvSpPr>
            <a:spLocks xmlns:a="http://schemas.openxmlformats.org/drawingml/2006/main" noGrp="1"/>
          </p:cNvSpPr>
          <p:nvPr/>
        </p:nvSpPr>
        <p:spPr>
          <a:xfrm xmlns:a="http://schemas.openxmlformats.org/drawingml/2006/main">
            <a:off x="8953500" y="20478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00" b="0">
                <a:solidFill>
                  <a:srgbClr val="3D8DFF"/>
                </a:solidFill>
                <a:latin typeface="Helvetica Neue"/>
                <a:ea typeface="Helvetica Neue"/>
                <a:cs typeface="Helvetica Neue"/>
              </a:defRPr>
            </a:pPr>
            <a:r>
              <a:rPr sz="4500" b="0">
                <a:solidFill>
                  <a:srgbClr val="3D8DFF"/>
                </a:solidFill>
                <a:latin typeface="Helvetica Neue"/>
                <a:ea typeface="Helvetica Neue"/>
                <a:cs typeface="Helvetica Neue"/>
              </a:rPr>
              <a:t>+7.8%</a:t>
            </a:r>
          </a:p>
        </p:txBody>
      </p:sp>
      <p:sp>
        <p:nvSpPr>
          <p:cNvPr id="536" name="">
            <a:extLst xmlns:a="http://schemas.openxmlformats.org/drawingml/2006/main">
              <a:ext uri="{FF2B5EF4-FFF2-40B4-BE49-F238E27FC236}">
                <a16:creationId xmlns:a16="http://schemas.microsoft.com/office/drawing/2014/main" id="{16B6F288-24AC-4E51-B017-0CFB32D8777A}"/>
              </a:ext>
            </a:extLst>
          </p:cNvPr>
          <p:cNvSpPr>
            <a:spLocks xmlns:a="http://schemas.openxmlformats.org/drawingml/2006/main" noGrp="1"/>
          </p:cNvSpPr>
          <p:nvPr/>
        </p:nvSpPr>
        <p:spPr>
          <a:xfrm xmlns:a="http://schemas.openxmlformats.org/drawingml/2006/main">
            <a:off x="8953500" y="3095625"/>
            <a:ext cx="2762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Mean interval width</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77.7% to 80.1%</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Aggregate coverage</a:t>
            </a:r>
          </a:p>
        </p:txBody>
      </p:sp>
      <p:sp>
        <p:nvSpPr>
          <p:cNvPr id="537" name="">
            <a:extLst xmlns:a="http://schemas.openxmlformats.org/drawingml/2006/main">
              <a:ext uri="{FF2B5EF4-FFF2-40B4-BE49-F238E27FC236}">
                <a16:creationId xmlns:a16="http://schemas.microsoft.com/office/drawing/2014/main" id="{17171223-CF33-4453-8820-49867F2FF040}"/>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7B8188"/>
                </a:solidFill>
                <a:latin typeface="Helvetica Neue"/>
                <a:ea typeface="Helvetica Neue"/>
                <a:cs typeface="Helvetica Neue"/>
              </a:defRPr>
            </a:pPr>
            <a:r>
              <a:rPr sz="1650" b="0">
                <a:solidFill>
                  <a:srgbClr val="7B8188"/>
                </a:solidFill>
                <a:latin typeface="Helvetica Neue"/>
                <a:ea typeface="Helvetica Neue"/>
                <a:cs typeface="Helvetica Neue"/>
              </a:rPr>
              <a:t>Chart: seven standard rungs. Callouts: all 108 trained cells, including matched controls.</a:t>
            </a:r>
          </a:p>
        </p:txBody>
      </p:sp>
    </p:spTree>
    <p:extLst>
      <p:ext uri="{BB962C8B-B14F-4D97-AF65-F5344CB8AC3E}">
        <p14:creationId xmlns:p14="http://schemas.microsoft.com/office/powerpoint/2010/main" val="54622172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4DB16885-0D3F-A391-B669-3211DB3B26E8}" type="slidenum">
              <a:t>12</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Conclusions and the next experiments</a:t>
            </a:r>
          </a:p>
        </p:txBody>
      </p:sp>
      <p:sp>
        <p:nvSpPr>
          <p:cNvPr id="534" name="">
            <a:extLst xmlns:a="http://schemas.openxmlformats.org/drawingml/2006/main">
              <a:ext uri="{FF2B5EF4-FFF2-40B4-BE49-F238E27FC236}">
                <a16:creationId xmlns:a16="http://schemas.microsoft.com/office/drawing/2014/main" id="{2664E8B3-5CC3-4E96-9649-BE5BA39FE239}"/>
              </a:ext>
            </a:extLst>
          </p:cNvPr>
          <p:cNvSpPr>
            <a:spLocks xmlns:a="http://schemas.openxmlformats.org/drawingml/2006/main" noGrp="1"/>
          </p:cNvSpPr>
          <p:nvPr/>
        </p:nvSpPr>
        <p:spPr>
          <a:xfrm xmlns:a="http://schemas.openxmlformats.org/drawingml/2006/main">
            <a:off x="390525" y="2028825"/>
            <a:ext cx="55245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No reliable incremental news benefit</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under the tested recipe</a:t>
            </a:r>
          </a:p>
          <a:p xmlns:a="http://schemas.openxmlformats.org/drawingml/2006/main">
            <a:r>
              <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Wider intervals after adaptation</a:t>
            </a:r>
          </a:p>
          <a:p xmlns:a="http://schemas.openxmlformats.org/drawingml/2006/main">
            <a:pPr>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with broadly similar input effects</a:t>
            </a:r>
          </a:p>
        </p:txBody>
      </p:sp>
      <p:sp>
        <p:nvSpPr>
          <p:cNvPr id="535" name="">
            <a:extLst xmlns:a="http://schemas.openxmlformats.org/drawingml/2006/main">
              <a:ext uri="{FF2B5EF4-FFF2-40B4-BE49-F238E27FC236}">
                <a16:creationId xmlns:a16="http://schemas.microsoft.com/office/drawing/2014/main" id="{C3BC75A7-C861-41E8-B610-F82E881BEDEC}"/>
              </a:ext>
            </a:extLst>
          </p:cNvPr>
          <p:cNvSpPr>
            <a:spLocks xmlns:a="http://schemas.openxmlformats.org/drawingml/2006/main" noGrp="1"/>
          </p:cNvSpPr>
          <p:nvPr/>
        </p:nvSpPr>
        <p:spPr>
          <a:xfrm xmlns:a="http://schemas.openxmlformats.org/drawingml/2006/main">
            <a:off x="6267450" y="2028825"/>
            <a:ext cx="55245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Next experiments</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Daily one-step forecasts</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Matched topic reruns</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Stronger quantile / scale baselines</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Untouched prospective test</a:t>
            </a:r>
          </a:p>
        </p:txBody>
      </p:sp>
    </p:spTree>
    <p:extLst>
      <p:ext uri="{BB962C8B-B14F-4D97-AF65-F5344CB8AC3E}">
        <p14:creationId xmlns:p14="http://schemas.microsoft.com/office/powerpoint/2010/main" val="54622172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2DD23107-4986-8758-3A93-3D74F35908CC}" type="slidenum">
              <a:t>13</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the original topic comparison</a:t>
            </a:r>
          </a:p>
        </p:txBody>
      </p:sp>
      <p:graphicFrame>
        <p:nvGraphicFramePr>
          <p:cNvPr id="538" name=""/>
          <p:cNvGraphicFramePr/>
          <p:nvPr/>
        </p:nvGraphicFramePr>
        <p:xfrm>
          <a:off xmlns:a="http://schemas.openxmlformats.org/drawingml/2006/main" x="393668" y="1571625"/>
          <a:ext xmlns:a="http://schemas.openxmlformats.org/drawingml/2006/main" cx="11404568" cy="4286250"/>
        </p:xfrm>
        <a:graphic xmlns:a="http://schemas.openxmlformats.org/drawingml/2006/main">
          <a:graphicData uri="http://schemas.openxmlformats.org/drawingml/2006/table">
            <a:tbl>
              <a:tblPr/>
              <a:tblGrid>
                <a:gridCol w="5524500"/>
                <a:gridCol w="2952750"/>
                <a:gridCol w="2924175"/>
              </a:tblGrid>
              <a:tr h="476250">
                <a:tc>
                  <a:txBody>
                    <a:bodyPr>
                      <a:noAutofit/>
                    </a:bodyPr>
                    <a:lstStyle/>
                    <a:p>
                      <a:r>
                        <a:rPr sz="1950" b="1">
                          <a:solidFill>
                            <a:srgbClr val="000000"/>
                          </a:solidFill>
                          <a:latin typeface="Helvetica Neue"/>
                          <a:ea typeface="Helvetica Neue"/>
                          <a:cs typeface="Helvetica Neue"/>
                        </a:rPr>
                        <a:t>Added source</a:t>
                      </a:r>
                    </a:p>
                  </a:txBody>
                  <a:tcPr marL="91440" marR="91440" marT="45720" marB="45720">
                    <a:solidFill>
                      <a:srgbClr val="F2F3F4"/>
                    </a:solidFill>
                  </a:tcPr>
                </a:tc>
                <a:tc>
                  <a:txBody>
                    <a:bodyPr>
                      <a:noAutofit/>
                    </a:bodyPr>
                    <a:lstStyle/>
                    <a:p>
                      <a:r>
                        <a:rPr sz="1950" b="1">
                          <a:solidFill>
                            <a:srgbClr val="000000"/>
                          </a:solidFill>
                          <a:latin typeface="Helvetica Neue"/>
                          <a:ea typeface="Helvetica Neue"/>
                          <a:cs typeface="Helvetica Neue"/>
                        </a:rPr>
                        <a:t>WQL</a:t>
                      </a:r>
                    </a:p>
                  </a:txBody>
                  <a:tcPr marL="91440" marR="91440" marT="45720" marB="45720">
                    <a:solidFill>
                      <a:srgbClr val="F2F3F4"/>
                    </a:solidFill>
                  </a:tcPr>
                </a:tc>
                <a:tc>
                  <a:txBody>
                    <a:bodyPr>
                      <a:noAutofit/>
                    </a:bodyPr>
                    <a:lstStyle/>
                    <a:p>
                      <a:r>
                        <a:rPr sz="1950" b="1">
                          <a:solidFill>
                            <a:srgbClr val="000000"/>
                          </a:solidFill>
                          <a:latin typeface="Helvetica Neue"/>
                          <a:ea typeface="Helvetica Neue"/>
                          <a:cs typeface="Helvetica Neue"/>
                        </a:rPr>
                        <a:t>Direction correct</a:t>
                      </a:r>
                    </a:p>
                  </a:txBody>
                  <a:tcPr marL="91440" marR="91440" marT="45720" marB="45720">
                    <a:solidFill>
                      <a:srgbClr val="F2F3F4"/>
                    </a:solidFill>
                  </a:tcPr>
                </a:tc>
              </a:tr>
              <a:tr h="476250">
                <a:tc>
                  <a:txBody>
                    <a:bodyPr>
                      <a:noAutofit/>
                    </a:bodyPr>
                    <a:lstStyle/>
                    <a:p>
                      <a:r>
                        <a:rPr sz="1950" b="0">
                          <a:solidFill>
                            <a:srgbClr val="000000"/>
                          </a:solidFill>
                          <a:latin typeface="Helvetica Neue"/>
                          <a:ea typeface="Helvetica Neue"/>
                          <a:cs typeface="Helvetica Neue"/>
                        </a:rPr>
                        <a:t>Control</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0.695413</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140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Fed</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0.686526</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144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Recession</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0.686796</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144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Semiconductors</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0.687499</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144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AI</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0.687580</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143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Inflation</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0.688131</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142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All external</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0.688303</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145 / 250</a:t>
                      </a:r>
                    </a:p>
                  </a:txBody>
                  <a:tcPr marL="91440" marR="91440" marT="45720" marB="45720">
                    <a:solidFill>
                      <a:srgbClr val="FFFFFF"/>
                    </a:solidFill>
                  </a:tcPr>
                </a:tc>
              </a:tr>
              <a:tr h="476250">
                <a:tc>
                  <a:txBody>
                    <a:bodyPr>
                      <a:noAutofit/>
                    </a:bodyPr>
                    <a:lstStyle/>
                    <a:p>
                      <a:r>
                        <a:rPr sz="1950" b="0">
                          <a:solidFill>
                            <a:srgbClr val="000000"/>
                          </a:solidFill>
                          <a:latin typeface="Helvetica Neue"/>
                          <a:ea typeface="Helvetica Neue"/>
                          <a:cs typeface="Helvetica Neue"/>
                        </a:rPr>
                        <a:t>Big-tech earnings</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0.688750</a:t>
                      </a:r>
                    </a:p>
                  </a:txBody>
                  <a:tcPr marL="91440" marR="91440" marT="45720" marB="45720">
                    <a:solidFill>
                      <a:srgbClr val="FFFFFF"/>
                    </a:solidFill>
                  </a:tcPr>
                </a:tc>
                <a:tc>
                  <a:txBody>
                    <a:bodyPr>
                      <a:noAutofit/>
                    </a:bodyPr>
                    <a:lstStyle/>
                    <a:p>
                      <a:r>
                        <a:rPr sz="1950" b="0">
                          <a:solidFill>
                            <a:srgbClr val="000000"/>
                          </a:solidFill>
                          <a:latin typeface="Helvetica Neue"/>
                          <a:ea typeface="Helvetica Neue"/>
                          <a:cs typeface="Helvetica Neue"/>
                        </a:rPr>
                        <a:t>142 / 250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54622172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27921A4-25C4-3DB4-06B1-32693CEE2241}" type="slidenum">
              <a:t>14</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batch correction and comparison limits</a:t>
            </a:r>
          </a:p>
        </p:txBody>
      </p:sp>
      <p:graphicFrame>
        <p:nvGraphicFramePr>
          <p:cNvPr id="539" name=""/>
          <p:cNvGraphicFramePr/>
          <p:nvPr/>
        </p:nvGraphicFramePr>
        <p:xfrm>
          <a:off xmlns:a="http://schemas.openxmlformats.org/drawingml/2006/main" x="393668" y="1857375"/>
          <a:ext xmlns:a="http://schemas.openxmlformats.org/drawingml/2006/main" cx="11404568" cy="3333750"/>
        </p:xfrm>
        <a:graphic xmlns:a="http://schemas.openxmlformats.org/drawingml/2006/main">
          <a:graphicData uri="http://schemas.openxmlformats.org/drawingml/2006/table">
            <a:tbl>
              <a:tblPr/>
              <a:tblGrid>
                <a:gridCol w="3667125"/>
                <a:gridCol w="2286000"/>
                <a:gridCol w="2714625"/>
                <a:gridCol w="2733675"/>
              </a:tblGrid>
              <a:tr h="666750">
                <a:tc>
                  <a:txBody>
                    <a:bodyPr>
                      <a:noAutofit/>
                    </a:bodyPr>
                    <a:lstStyle/>
                    <a:p>
                      <a:r>
                        <a:rPr sz="2025" b="1">
                          <a:solidFill>
                            <a:srgbClr val="000000"/>
                          </a:solidFill>
                          <a:latin typeface="Helvetica Neue"/>
                          <a:ea typeface="Helvetica Neue"/>
                          <a:cs typeface="Helvetica Neue"/>
                        </a:rPr>
                        <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Original</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Later control</a:t>
                      </a:r>
                    </a:p>
                  </a:txBody>
                  <a:tcPr marL="91440" marR="91440" marT="45720" marB="45720">
                    <a:solidFill>
                      <a:srgbClr val="F2F3F4"/>
                    </a:solidFill>
                  </a:tcPr>
                </a:tc>
                <a:tc>
                  <a:txBody>
                    <a:bodyPr>
                      <a:noAutofit/>
                    </a:bodyPr>
                    <a:lstStyle/>
                    <a:p>
                      <a:r>
                        <a:rPr sz="2025" b="1">
                          <a:solidFill>
                            <a:srgbClr val="000000"/>
                          </a:solidFill>
                          <a:latin typeface="Helvetica Neue"/>
                          <a:ea typeface="Helvetica Neue"/>
                          <a:cs typeface="Helvetica Neue"/>
                        </a:rPr>
                        <a:t>Later all external</a:t>
                      </a:r>
                    </a:p>
                  </a:txBody>
                  <a:tcPr marL="91440" marR="91440" marT="45720" marB="45720">
                    <a:solidFill>
                      <a:srgbClr val="F2F3F4"/>
                    </a:solidFill>
                  </a:tcPr>
                </a:tc>
              </a:tr>
              <a:tr h="666750">
                <a:tc>
                  <a:txBody>
                    <a:bodyPr>
                      <a:noAutofit/>
                    </a:bodyPr>
                    <a:lstStyle/>
                    <a:p>
                      <a:r>
                        <a:rPr sz="2025" b="0">
                          <a:solidFill>
                            <a:srgbClr val="000000"/>
                          </a:solidFill>
                          <a:latin typeface="Helvetica Neue"/>
                          <a:ea typeface="Helvetica Neue"/>
                          <a:cs typeface="Helvetica Neue"/>
                        </a:rPr>
                        <a:t>Series rows / update</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8 requested</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176</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172</a:t>
                      </a:r>
                    </a:p>
                  </a:txBody>
                  <a:tcPr marL="91440" marR="91440" marT="45720" marB="45720">
                    <a:solidFill>
                      <a:srgbClr val="FFFFFF"/>
                    </a:solidFill>
                  </a:tcPr>
                </a:tc>
              </a:tr>
              <a:tr h="666750">
                <a:tc>
                  <a:txBody>
                    <a:bodyPr>
                      <a:noAutofit/>
                    </a:bodyPr>
                    <a:lstStyle/>
                    <a:p>
                      <a:r>
                        <a:rPr sz="2025" b="0">
                          <a:solidFill>
                            <a:srgbClr val="000000"/>
                          </a:solidFill>
                          <a:latin typeface="Helvetica Neue"/>
                          <a:ea typeface="Helvetica Neue"/>
                          <a:cs typeface="Helvetica Neue"/>
                        </a:rPr>
                        <a:t>Windows / update</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About 1</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8</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4</a:t>
                      </a:r>
                    </a:p>
                  </a:txBody>
                  <a:tcPr marL="91440" marR="91440" marT="45720" marB="45720">
                    <a:solidFill>
                      <a:srgbClr val="FFFFFF"/>
                    </a:solidFill>
                  </a:tcPr>
                </a:tc>
              </a:tr>
              <a:tr h="666750">
                <a:tc>
                  <a:txBody>
                    <a:bodyPr>
                      <a:noAutofit/>
                    </a:bodyPr>
                    <a:lstStyle/>
                    <a:p>
                      <a:r>
                        <a:rPr sz="2025" b="0">
                          <a:solidFill>
                            <a:srgbClr val="000000"/>
                          </a:solidFill>
                          <a:latin typeface="Helvetica Neue"/>
                          <a:ea typeface="Helvetica Neue"/>
                          <a:cs typeface="Helvetica Neue"/>
                        </a:rPr>
                        <a:t>Updates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200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500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1,000</a:t>
                      </a:r>
                    </a:p>
                  </a:txBody>
                  <a:tcPr marL="91440" marR="91440" marT="45720" marB="45720">
                    <a:solidFill>
                      <a:srgbClr val="FFFFFF"/>
                    </a:solidFill>
                  </a:tcPr>
                </a:tc>
              </a:tr>
              <a:tr h="666750">
                <a:tc>
                  <a:txBody>
                    <a:bodyPr>
                      <a:noAutofit/>
                    </a:bodyPr>
                    <a:lstStyle/>
                    <a:p>
                      <a:r>
                        <a:rPr sz="2025" b="0">
                          <a:solidFill>
                            <a:srgbClr val="000000"/>
                          </a:solidFill>
                          <a:latin typeface="Helvetica Neue"/>
                          <a:ea typeface="Helvetica Neue"/>
                          <a:cs typeface="Helvetica Neue"/>
                        </a:rPr>
                        <a:t>Sampled windows</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About 200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4,000</a:t>
                      </a:r>
                    </a:p>
                  </a:txBody>
                  <a:tcPr marL="91440" marR="91440" marT="45720" marB="45720">
                    <a:solidFill>
                      <a:srgbClr val="FFFFFF"/>
                    </a:solidFill>
                  </a:tcPr>
                </a:tc>
                <a:tc>
                  <a:txBody>
                    <a:bodyPr>
                      <a:noAutofit/>
                    </a:bodyPr>
                    <a:lstStyle/>
                    <a:p>
                      <a:r>
                        <a:rPr sz="2025" b="0">
                          <a:solidFill>
                            <a:srgbClr val="000000"/>
                          </a:solidFill>
                          <a:latin typeface="Helvetica Neue"/>
                          <a:ea typeface="Helvetica Neue"/>
                          <a:cs typeface="Helvetica Neue"/>
                        </a:rPr>
                        <a:t>4,000</a:t>
                      </a:r>
                    </a:p>
                  </a:txBody>
                  <a:tcPr marL="91440" marR="91440" marT="45720" marB="45720">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3A662F08-CAAC-4C25-B40E-2F0589654109}"/>
              </a:ext>
            </a:extLst>
          </p:cNvPr>
          <p:cNvSpPr>
            <a:spLocks xmlns:a="http://schemas.openxmlformats.org/drawingml/2006/main" noGrp="1"/>
          </p:cNvSpPr>
          <p:nvPr/>
        </p:nvSpPr>
        <p:spPr>
          <a:xfrm xmlns:a="http://schemas.openxmlformats.org/drawingml/2006/main">
            <a:off x="390525" y="561975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000000"/>
                </a:solidFill>
                <a:latin typeface="Helvetica Neue"/>
                <a:ea typeface="Helvetica Neue"/>
                <a:cs typeface="Helvetica Neue"/>
              </a:defRPr>
            </a:pPr>
            <a:r>
              <a:rPr sz="2100" b="0">
                <a:solidFill>
                  <a:srgbClr val="000000"/>
                </a:solidFill>
                <a:latin typeface="Helvetica Neue"/>
                <a:ea typeface="Helvetica Neue"/>
                <a:cs typeface="Helvetica Neue"/>
              </a:rPr>
              <a:t>The rounds also change dates, data snapshot and some library versions</a:t>
            </a:r>
          </a:p>
        </p:txBody>
      </p:sp>
    </p:spTree>
    <p:extLst>
      <p:ext uri="{BB962C8B-B14F-4D97-AF65-F5344CB8AC3E}">
        <p14:creationId xmlns:p14="http://schemas.microsoft.com/office/powerpoint/2010/main" val="54622172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A83FA91-883A-0168-8075-96CEB9DCA3C2}" type="slidenum">
              <a:t>15</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gains depend on realized volatility</a:t>
            </a:r>
          </a:p>
        </p:txBody>
      </p:sp>
      <p:graphicFrame>
        <p:nvGraphicFramePr>
          <p:cNvPr id="540" name="Chart"/>
          <p:cNvGraphicFramePr/>
          <p:nvPr/>
        </p:nvGraphicFramePr>
        <p:xfrm>
          <a:off xmlns:a="http://schemas.openxmlformats.org/drawingml/2006/main" x="393668" y="1666875"/>
          <a:ext xmlns:a="http://schemas.openxmlformats.org/drawingml/2006/main" cx="7810500" cy="4000500"/>
        </p:xfrm>
        <a:graphic xmlns:a="http://schemas.openxmlformats.org/drawingml/2006/main">
          <a:graphicData uri="http://schemas.openxmlformats.org/drawingml/2006/chart">
            <c:chart xmlns:r="http://schemas.openxmlformats.org/officeDocument/2006/relationships" xmlns:c="http://schemas.openxmlformats.org/drawingml/2006/chart" r:id="Ra7e56edbfe174464"/>
          </a:graphicData>
        </a:graphic>
      </p:graphicFrame>
      <p:sp>
        <p:nvSpPr>
          <p:cNvPr id="535" name="">
            <a:extLst xmlns:a="http://schemas.openxmlformats.org/drawingml/2006/main">
              <a:ext uri="{FF2B5EF4-FFF2-40B4-BE49-F238E27FC236}">
                <a16:creationId xmlns:a16="http://schemas.microsoft.com/office/drawing/2014/main" id="{D88B0A8A-9757-4B5A-AD01-566BB1C596BA}"/>
              </a:ext>
            </a:extLst>
          </p:cNvPr>
          <p:cNvSpPr>
            <a:spLocks xmlns:a="http://schemas.openxmlformats.org/drawingml/2006/main" noGrp="1"/>
          </p:cNvSpPr>
          <p:nvPr/>
        </p:nvSpPr>
        <p:spPr>
          <a:xfrm xmlns:a="http://schemas.openxmlformats.org/drawingml/2006/main">
            <a:off x="8810625" y="2000250"/>
            <a:ext cx="2952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000000"/>
                </a:solidFill>
                <a:latin typeface="Helvetica Neue"/>
                <a:ea typeface="Helvetica Neue"/>
                <a:cs typeface="Helvetica Neue"/>
              </a:defRPr>
            </a:pPr>
            <a:r>
              <a:rPr sz="2325" b="0">
                <a:solidFill>
                  <a:srgbClr val="000000"/>
                </a:solidFill>
                <a:latin typeface="Helvetica Neue"/>
                <a:ea typeface="Helvetica Neue"/>
                <a:cs typeface="Helvetica Neue"/>
              </a:rPr>
              <a:t>200 distinct weeks</a:t>
            </a:r>
          </a:p>
          <a:p xmlns:a="http://schemas.openxmlformats.org/drawingml/2006/main">
            <a:r>
              <a:t/>
            </a:r>
          </a:p>
          <a:p xmlns:a="http://schemas.openxmlformats.org/drawingml/2006/main">
            <a:pPr>
              <a:defRPr sz="2325" b="0">
                <a:solidFill>
                  <a:srgbClr val="000000"/>
                </a:solidFill>
                <a:latin typeface="Helvetica Neue"/>
                <a:ea typeface="Helvetica Neue"/>
                <a:cs typeface="Helvetica Neue"/>
              </a:defRPr>
            </a:pPr>
            <a:r>
              <a:rPr sz="2325" b="0">
                <a:solidFill>
                  <a:srgbClr val="000000"/>
                </a:solidFill>
                <a:latin typeface="Helvetica Neue"/>
                <a:ea typeface="Helvetica Neue"/>
                <a:cs typeface="Helvetica Neue"/>
              </a:rPr>
              <a:t>67 / 66 / 67 per group</a:t>
            </a:r>
          </a:p>
          <a:p xmlns:a="http://schemas.openxmlformats.org/drawingml/2006/main">
            <a:r>
              <a:t/>
            </a:r>
          </a:p>
          <a:p xmlns:a="http://schemas.openxmlformats.org/drawingml/2006/main">
            <a:pPr>
              <a:defRPr sz="2325" b="0">
                <a:solidFill>
                  <a:srgbClr val="000000"/>
                </a:solidFill>
                <a:latin typeface="Helvetica Neue"/>
                <a:ea typeface="Helvetica Neue"/>
                <a:cs typeface="Helvetica Neue"/>
              </a:defRPr>
            </a:pPr>
            <a:r>
              <a:rPr sz="2325" b="0">
                <a:solidFill>
                  <a:srgbClr val="000000"/>
                </a:solidFill>
                <a:latin typeface="Helvetica Neue"/>
                <a:ea typeface="Helvetica Neue"/>
                <a:cs typeface="Helvetica Neue"/>
              </a:rPr>
              <a:t>Post-hoc grouping</a:t>
            </a:r>
          </a:p>
        </p:txBody>
      </p:sp>
      <p:sp>
        <p:nvSpPr>
          <p:cNvPr id="536" name="">
            <a:extLst xmlns:a="http://schemas.openxmlformats.org/drawingml/2006/main">
              <a:ext uri="{FF2B5EF4-FFF2-40B4-BE49-F238E27FC236}">
                <a16:creationId xmlns:a16="http://schemas.microsoft.com/office/drawing/2014/main" id="{406987EA-EDE7-4AF2-8F9B-7057A6611080}"/>
              </a:ext>
            </a:extLst>
          </p:cNvPr>
          <p:cNvSpPr>
            <a:spLocks xmlns:a="http://schemas.openxmlformats.org/drawingml/2006/main" noGrp="1"/>
          </p:cNvSpPr>
          <p:nvPr/>
        </p:nvSpPr>
        <p:spPr>
          <a:xfrm xmlns:a="http://schemas.openxmlformats.org/drawingml/2006/main">
            <a:off x="390525" y="58102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B8188"/>
                </a:solidFill>
                <a:latin typeface="Helvetica Neue"/>
                <a:ea typeface="Helvetica Neue"/>
                <a:cs typeface="Helvetica Neue"/>
              </a:defRPr>
            </a:pPr>
            <a:r>
              <a:rPr sz="1725" b="0">
                <a:solidFill>
                  <a:srgbClr val="7B8188"/>
                </a:solidFill>
                <a:latin typeface="Helvetica Neue"/>
                <a:ea typeface="Helvetica Neue"/>
                <a:cs typeface="Helvetica Neue"/>
              </a:rPr>
              <a:t>WQL difference x 1,000. Negative favors LoRA. Repeated rungs averaged per week.</a:t>
            </a:r>
          </a:p>
        </p:txBody>
      </p:sp>
    </p:spTree>
    <p:extLst>
      <p:ext uri="{BB962C8B-B14F-4D97-AF65-F5344CB8AC3E}">
        <p14:creationId xmlns:p14="http://schemas.microsoft.com/office/powerpoint/2010/main" val="54622172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DC9C7607-4BA3-B4DC-A00F-2E67A9FCFF7E}" type="slidenum">
              <a:t>16</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Backup: evidence limits and Gaussian baseline</a:t>
            </a:r>
          </a:p>
        </p:txBody>
      </p:sp>
      <p:sp>
        <p:nvSpPr>
          <p:cNvPr id="534" name="">
            <a:extLst xmlns:a="http://schemas.openxmlformats.org/drawingml/2006/main">
              <a:ext uri="{FF2B5EF4-FFF2-40B4-BE49-F238E27FC236}">
                <a16:creationId xmlns:a16="http://schemas.microsoft.com/office/drawing/2014/main" id="{B085C95A-A7FD-4D09-9912-0FF686086814}"/>
              </a:ext>
            </a:extLst>
          </p:cNvPr>
          <p:cNvSpPr>
            <a:spLocks xmlns:a="http://schemas.openxmlformats.org/drawingml/2006/main" noGrp="1"/>
          </p:cNvSpPr>
          <p:nvPr/>
        </p:nvSpPr>
        <p:spPr>
          <a:xfrm xmlns:a="http://schemas.openxmlformats.org/drawingml/2006/main">
            <a:off x="390525" y="2028825"/>
            <a:ext cx="55245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Control LoRA minus Gaussian</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-0.01088 WQL</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95% interval [-0.02269, -0.00106]</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Pooled advantage, with a worse</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2022 point estimate</a:t>
            </a:r>
          </a:p>
        </p:txBody>
      </p:sp>
      <p:sp>
        <p:nvSpPr>
          <p:cNvPr id="535" name="">
            <a:extLst xmlns:a="http://schemas.openxmlformats.org/drawingml/2006/main">
              <a:ext uri="{FF2B5EF4-FFF2-40B4-BE49-F238E27FC236}">
                <a16:creationId xmlns:a16="http://schemas.microsoft.com/office/drawing/2014/main" id="{294BF378-7706-4833-9DBD-5B2C44C0A4FF}"/>
              </a:ext>
            </a:extLst>
          </p:cNvPr>
          <p:cNvSpPr>
            <a:spLocks xmlns:a="http://schemas.openxmlformats.org/drawingml/2006/main" noGrp="1"/>
          </p:cNvSpPr>
          <p:nvPr/>
        </p:nvSpPr>
        <p:spPr>
          <a:xfrm xmlns:a="http://schemas.openxmlformats.org/drawingml/2006/main">
            <a:off x="6267450" y="2028825"/>
            <a:ext cx="55245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One ETF and four test years</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Exploratory comparisons</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No untouched prospective test</a:t>
            </a:r>
          </a:p>
          <a:p xmlns:a="http://schemas.openxmlformats.org/drawingml/2006/main">
            <a:r>
              <a:t/>
            </a:r>
          </a:p>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Pretraining overlap unresolved</a:t>
            </a:r>
          </a:p>
        </p:txBody>
      </p:sp>
    </p:spTree>
    <p:extLst>
      <p:ext uri="{BB962C8B-B14F-4D97-AF65-F5344CB8AC3E}">
        <p14:creationId xmlns:p14="http://schemas.microsoft.com/office/powerpoint/2010/main" val="54622172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
            </a:r>
            <a:endParaRP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90F7333B-44AC-F7E9-D49D-FE92F45E0477}" type="slidenum">
              <a:t>17</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LoRA: Low-Rank Adaptation</a:t>
            </a:r>
          </a:p>
        </p:txBody>
      </p:sp>
      <p:sp>
        <p:nvSpPr>
          <p:cNvPr id="534" name="">
            <a:extLst xmlns:a="http://schemas.openxmlformats.org/drawingml/2006/main">
              <a:ext uri="{FF2B5EF4-FFF2-40B4-BE49-F238E27FC236}">
                <a16:creationId xmlns:a16="http://schemas.microsoft.com/office/drawing/2014/main" id="{876A7C08-2493-4B40-ADA3-8801F25D2EF6}"/>
              </a:ext>
            </a:extLst>
          </p:cNvPr>
          <p:cNvSpPr>
            <a:spLocks xmlns:a="http://schemas.openxmlformats.org/drawingml/2006/main" noGrp="1"/>
          </p:cNvSpPr>
          <p:nvPr/>
        </p:nvSpPr>
        <p:spPr>
          <a:xfrm xmlns:a="http://schemas.openxmlformats.org/drawingml/2006/main">
            <a:off x="390525" y="1285875"/>
            <a:ext cx="11382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7B8188"/>
                </a:solidFill>
                <a:latin typeface="Helvetica Neue"/>
                <a:ea typeface="Helvetica Neue"/>
                <a:cs typeface="Helvetica Neue"/>
              </a:defRPr>
            </a:pPr>
            <a:r>
              <a:rPr sz="2100" b="0">
                <a:solidFill>
                  <a:srgbClr val="7B8188"/>
                </a:solidFill>
                <a:latin typeface="Helvetica Neue"/>
                <a:ea typeface="Helvetica Neue"/>
                <a:cs typeface="Helvetica Neue"/>
              </a:rPr>
              <a:t>Learn a small update while keeping pretrained weights fixed</a:t>
            </a:r>
          </a:p>
        </p:txBody>
      </p:sp>
      <p:sp>
        <p:nvSpPr>
          <p:cNvPr id="535" name="">
            <a:extLst xmlns:a="http://schemas.openxmlformats.org/drawingml/2006/main">
              <a:ext uri="{FF2B5EF4-FFF2-40B4-BE49-F238E27FC236}">
                <a16:creationId xmlns:a16="http://schemas.microsoft.com/office/drawing/2014/main" id="{CD8C1738-9691-4BC8-802E-4C5BC5A4FF5A}"/>
              </a:ext>
            </a:extLst>
          </p:cNvPr>
          <p:cNvSpPr>
            <a:spLocks xmlns:a="http://schemas.openxmlformats.org/drawingml/2006/main" noGrp="1"/>
          </p:cNvSpPr>
          <p:nvPr/>
        </p:nvSpPr>
        <p:spPr>
          <a:xfrm xmlns:a="http://schemas.openxmlformats.org/drawingml/2006/main">
            <a:off x="390525" y="2066925"/>
            <a:ext cx="561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150" b="0">
                <a:solidFill>
                  <a:srgbClr val="3D8DFF"/>
                </a:solidFill>
                <a:latin typeface="Helvetica Neue"/>
                <a:ea typeface="Helvetica Neue"/>
                <a:cs typeface="Helvetica Neue"/>
              </a:defRPr>
            </a:pPr>
            <a:r>
              <a:rPr sz="3150" b="0">
                <a:solidFill>
                  <a:srgbClr val="3D8DFF"/>
                </a:solidFill>
                <a:latin typeface="Helvetica Neue"/>
                <a:ea typeface="Helvetica Neue"/>
                <a:cs typeface="Helvetica Neue"/>
              </a:rPr>
              <a:t>h = Wx + (α/r) BAx</a:t>
            </a:r>
          </a:p>
        </p:txBody>
      </p:sp>
      <p:sp>
        <p:nvSpPr>
          <p:cNvPr id="536" name="">
            <a:extLst xmlns:a="http://schemas.openxmlformats.org/drawingml/2006/main">
              <a:ext uri="{FF2B5EF4-FFF2-40B4-BE49-F238E27FC236}">
                <a16:creationId xmlns:a16="http://schemas.microsoft.com/office/drawing/2014/main" id="{D61E308F-EB29-435D-9DBF-75EE7A3F008E}"/>
              </a:ext>
            </a:extLst>
          </p:cNvPr>
          <p:cNvSpPr>
            <a:spLocks xmlns:a="http://schemas.openxmlformats.org/drawingml/2006/main" noGrp="1"/>
          </p:cNvSpPr>
          <p:nvPr/>
        </p:nvSpPr>
        <p:spPr>
          <a:xfrm xmlns:a="http://schemas.openxmlformats.org/drawingml/2006/main">
            <a:off x="390525" y="2857500"/>
            <a:ext cx="5667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000000"/>
                </a:solidFill>
                <a:latin typeface="Helvetica Neue"/>
                <a:ea typeface="Helvetica Neue"/>
                <a:cs typeface="Helvetica Neue"/>
              </a:defRPr>
            </a:pPr>
            <a:r>
              <a:rPr sz="2100" b="0">
                <a:solidFill>
                  <a:srgbClr val="000000"/>
                </a:solidFill>
                <a:latin typeface="Helvetica Neue"/>
                <a:ea typeface="Helvetica Neue"/>
                <a:cs typeface="Helvetica Neue"/>
              </a:rPr>
              <a:t>W stays frozen. Only A and B train.</a:t>
            </a:r>
          </a:p>
          <a:p xmlns:a="http://schemas.openxmlformats.org/drawingml/2006/main">
            <a:pPr>
              <a:defRPr sz="2100" b="0">
                <a:solidFill>
                  <a:srgbClr val="000000"/>
                </a:solidFill>
                <a:latin typeface="Helvetica Neue"/>
                <a:ea typeface="Helvetica Neue"/>
                <a:cs typeface="Helvetica Neue"/>
              </a:defRPr>
            </a:pPr>
            <a:r>
              <a:rPr sz="2100" b="0">
                <a:solidFill>
                  <a:srgbClr val="000000"/>
                </a:solidFill>
                <a:latin typeface="Helvetica Neue"/>
                <a:ea typeface="Helvetica Neue"/>
                <a:cs typeface="Helvetica Neue"/>
              </a:rPr>
              <a:t>A: r × d       B: d × r       r ≪ d</a:t>
            </a:r>
          </a:p>
        </p:txBody>
      </p:sp>
      <p:sp>
        <p:nvSpPr>
          <p:cNvPr id="537" name="">
            <a:extLst xmlns:a="http://schemas.openxmlformats.org/drawingml/2006/main">
              <a:ext uri="{FF2B5EF4-FFF2-40B4-BE49-F238E27FC236}">
                <a16:creationId xmlns:a16="http://schemas.microsoft.com/office/drawing/2014/main" id="{71FA0623-F315-4D09-8350-B84A45F6B2E6}"/>
              </a:ext>
            </a:extLst>
          </p:cNvPr>
          <p:cNvSpPr>
            <a:spLocks xmlns:a="http://schemas.openxmlformats.org/drawingml/2006/main" noGrp="1"/>
          </p:cNvSpPr>
          <p:nvPr/>
        </p:nvSpPr>
        <p:spPr>
          <a:xfrm xmlns:a="http://schemas.openxmlformats.org/drawingml/2006/main">
            <a:off x="390525" y="3857625"/>
            <a:ext cx="5667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000000"/>
                </a:solidFill>
                <a:latin typeface="Helvetica Neue"/>
                <a:ea typeface="Helvetica Neue"/>
                <a:cs typeface="Helvetica Neue"/>
              </a:defRPr>
            </a:pPr>
            <a:r>
              <a:rPr sz="2100" b="0">
                <a:solidFill>
                  <a:srgbClr val="000000"/>
                </a:solidFill>
                <a:latin typeface="Helvetica Neue"/>
                <a:ea typeface="Helvetica Neue"/>
                <a:cs typeface="Helvetica Neue"/>
              </a:rPr>
              <a:t>Our settings: r = 8, α = 16</a:t>
            </a:r>
          </a:p>
          <a:p xmlns:a="http://schemas.openxmlformats.org/drawingml/2006/main">
            <a:pPr>
              <a:defRPr sz="2100" b="0">
                <a:solidFill>
                  <a:srgbClr val="000000"/>
                </a:solidFill>
                <a:latin typeface="Helvetica Neue"/>
                <a:ea typeface="Helvetica Neue"/>
                <a:cs typeface="Helvetica Neue"/>
              </a:defRPr>
            </a:pPr>
            <a:r>
              <a:rPr sz="2100" b="0">
                <a:solidFill>
                  <a:srgbClr val="000000"/>
                </a:solidFill>
                <a:latin typeface="Helvetica Neue"/>
                <a:ea typeface="Helvetica Neue"/>
                <a:cs typeface="Helvetica Neue"/>
              </a:rPr>
              <a:t>Update scale: α/r = 2</a:t>
            </a:r>
          </a:p>
        </p:txBody>
      </p:sp>
      <p:sp>
        <p:nvSpPr>
          <p:cNvPr id="538" name="">
            <a:extLst xmlns:a="http://schemas.openxmlformats.org/drawingml/2006/main">
              <a:ext uri="{FF2B5EF4-FFF2-40B4-BE49-F238E27FC236}">
                <a16:creationId xmlns:a16="http://schemas.microsoft.com/office/drawing/2014/main" id="{B041745B-ECC1-4D36-8466-300832F445A1}"/>
              </a:ext>
            </a:extLst>
          </p:cNvPr>
          <p:cNvSpPr>
            <a:spLocks xmlns:a="http://schemas.openxmlformats.org/drawingml/2006/main" noGrp="1"/>
          </p:cNvSpPr>
          <p:nvPr/>
        </p:nvSpPr>
        <p:spPr>
          <a:xfrm xmlns:a="http://schemas.openxmlformats.org/drawingml/2006/main">
            <a:off x="390525" y="4838700"/>
            <a:ext cx="5667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A random, B = 0: no initial update</a:t>
            </a:r>
          </a:p>
        </p:txBody>
      </p:sp>
      <p:sp>
        <p:nvSpPr>
          <p:cNvPr id="539" name="">
            <a:extLst xmlns:a="http://schemas.openxmlformats.org/drawingml/2006/main">
              <a:ext uri="{FF2B5EF4-FFF2-40B4-BE49-F238E27FC236}">
                <a16:creationId xmlns:a16="http://schemas.microsoft.com/office/drawing/2014/main" id="{C25701D5-CD9F-4303-B095-6D93E7B5A430}"/>
              </a:ext>
            </a:extLst>
          </p:cNvPr>
          <p:cNvSpPr>
            <a:spLocks xmlns:a="http://schemas.openxmlformats.org/drawingml/2006/main" noGrp="1"/>
          </p:cNvSpPr>
          <p:nvPr/>
        </p:nvSpPr>
        <p:spPr>
          <a:xfrm xmlns:a="http://schemas.openxmlformats.org/drawingml/2006/main">
            <a:off x="6572250" y="2114550"/>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000000"/>
                </a:solidFill>
                <a:latin typeface="Helvetica Neue"/>
                <a:ea typeface="Helvetica Neue"/>
                <a:cs typeface="Helvetica Neue"/>
              </a:defRPr>
            </a:pPr>
            <a:r>
              <a:rPr sz="2175" b="1">
                <a:solidFill>
                  <a:srgbClr val="000000"/>
                </a:solidFill>
                <a:latin typeface="Helvetica Neue"/>
                <a:ea typeface="Helvetica Neue"/>
                <a:cs typeface="Helvetica Neue"/>
              </a:rPr>
              <a:t>Fewer trainable parameters</a:t>
            </a:r>
          </a:p>
        </p:txBody>
      </p:sp>
      <p:sp>
        <p:nvSpPr>
          <p:cNvPr id="540" name="">
            <a:extLst xmlns:a="http://schemas.openxmlformats.org/drawingml/2006/main">
              <a:ext uri="{FF2B5EF4-FFF2-40B4-BE49-F238E27FC236}">
                <a16:creationId xmlns:a16="http://schemas.microsoft.com/office/drawing/2014/main" id="{0E08C7FD-4BDB-48FA-B400-10BCE1098578}"/>
              </a:ext>
            </a:extLst>
          </p:cNvPr>
          <p:cNvSpPr>
            <a:spLocks xmlns:a="http://schemas.openxmlformats.org/drawingml/2006/main" noGrp="1"/>
          </p:cNvSpPr>
          <p:nvPr/>
        </p:nvSpPr>
        <p:spPr>
          <a:xfrm xmlns:a="http://schemas.openxmlformats.org/drawingml/2006/main">
            <a:off x="6572250" y="2733675"/>
            <a:ext cx="5219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Per 768 × 768 matrix, r = 8</a:t>
            </a:r>
          </a:p>
          <a:p xmlns:a="http://schemas.openxmlformats.org/drawingml/2006/main">
            <a:pPr>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2dr = 12,288 instead of d² = 589,824</a:t>
            </a:r>
          </a:p>
        </p:txBody>
      </p:sp>
      <p:sp>
        <p:nvSpPr>
          <p:cNvPr id="541" name="">
            <a:extLst xmlns:a="http://schemas.openxmlformats.org/drawingml/2006/main">
              <a:ext uri="{FF2B5EF4-FFF2-40B4-BE49-F238E27FC236}">
                <a16:creationId xmlns:a16="http://schemas.microsoft.com/office/drawing/2014/main" id="{DD05AAE7-B198-4537-BC52-B435EC00C73B}"/>
              </a:ext>
            </a:extLst>
          </p:cNvPr>
          <p:cNvSpPr>
            <a:spLocks xmlns:a="http://schemas.openxmlformats.org/drawingml/2006/main" noGrp="1"/>
          </p:cNvSpPr>
          <p:nvPr/>
        </p:nvSpPr>
        <p:spPr>
          <a:xfrm xmlns:a="http://schemas.openxmlformats.org/drawingml/2006/main">
            <a:off x="6572250" y="3838575"/>
            <a:ext cx="5219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0">
                <a:solidFill>
                  <a:srgbClr val="3D8DFF"/>
                </a:solidFill>
                <a:latin typeface="Helvetica Neue"/>
                <a:ea typeface="Helvetica Neue"/>
                <a:cs typeface="Helvetica Neue"/>
              </a:defRPr>
            </a:pPr>
            <a:r>
              <a:rPr sz="3600" b="0">
                <a:solidFill>
                  <a:srgbClr val="3D8DFF"/>
                </a:solidFill>
                <a:latin typeface="Helvetica Neue"/>
                <a:ea typeface="Helvetica Neue"/>
                <a:cs typeface="Helvetica Neue"/>
              </a:rPr>
              <a:t>1,206,912</a:t>
            </a:r>
          </a:p>
        </p:txBody>
      </p:sp>
      <p:sp>
        <p:nvSpPr>
          <p:cNvPr id="542" name="">
            <a:extLst xmlns:a="http://schemas.openxmlformats.org/drawingml/2006/main">
              <a:ext uri="{FF2B5EF4-FFF2-40B4-BE49-F238E27FC236}">
                <a16:creationId xmlns:a16="http://schemas.microsoft.com/office/drawing/2014/main" id="{6229A56C-871E-4362-8CEF-5F05C6C1537F}"/>
              </a:ext>
            </a:extLst>
          </p:cNvPr>
          <p:cNvSpPr>
            <a:spLocks xmlns:a="http://schemas.openxmlformats.org/drawingml/2006/main" noGrp="1"/>
          </p:cNvSpPr>
          <p:nvPr/>
        </p:nvSpPr>
        <p:spPr>
          <a:xfrm xmlns:a="http://schemas.openxmlformats.org/drawingml/2006/main">
            <a:off x="6572250" y="4591050"/>
            <a:ext cx="5219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Trainable in our run, about 1% overall</a:t>
            </a:r>
          </a:p>
        </p:txBody>
      </p:sp>
      <p:sp>
        <p:nvSpPr>
          <p:cNvPr id="543" name="">
            <a:extLst xmlns:a="http://schemas.openxmlformats.org/drawingml/2006/main">
              <a:ext uri="{FF2B5EF4-FFF2-40B4-BE49-F238E27FC236}">
                <a16:creationId xmlns:a16="http://schemas.microsoft.com/office/drawing/2014/main" id="{239DDEC1-99C5-41B7-A543-AE0919D3D3B7}"/>
              </a:ext>
            </a:extLst>
          </p:cNvPr>
          <p:cNvSpPr>
            <a:spLocks xmlns:a="http://schemas.openxmlformats.org/drawingml/2006/main" noGrp="1"/>
          </p:cNvSpPr>
          <p:nvPr/>
        </p:nvSpPr>
        <p:spPr>
          <a:xfrm xmlns:a="http://schemas.openxmlformats.org/drawingml/2006/main">
            <a:off x="390525" y="5514975"/>
            <a:ext cx="11382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After training: W′ = W + (α/r) BA</a:t>
            </a:r>
          </a:p>
        </p:txBody>
      </p:sp>
      <p:sp>
        <p:nvSpPr>
          <p:cNvPr id="544" name="">
            <a:extLst xmlns:a="http://schemas.openxmlformats.org/drawingml/2006/main">
              <a:ext uri="{FF2B5EF4-FFF2-40B4-BE49-F238E27FC236}">
                <a16:creationId xmlns:a16="http://schemas.microsoft.com/office/drawing/2014/main" id="{E5DA975B-032F-4EA2-A38B-BE2544D7B707}"/>
              </a:ext>
            </a:extLst>
          </p:cNvPr>
          <p:cNvSpPr>
            <a:spLocks xmlns:a="http://schemas.openxmlformats.org/drawingml/2006/main" noGrp="1"/>
          </p:cNvSpPr>
          <p:nvPr/>
        </p:nvSpPr>
        <p:spPr>
          <a:xfrm xmlns:a="http://schemas.openxmlformats.org/drawingml/2006/main">
            <a:off x="390525" y="5972175"/>
            <a:ext cx="11382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7B8188"/>
                </a:solidFill>
                <a:latin typeface="Helvetica Neue"/>
                <a:ea typeface="Helvetica Neue"/>
                <a:cs typeface="Helvetica Neue"/>
              </a:defRPr>
            </a:pPr>
            <a:r>
              <a:rPr sz="1800" b="0">
                <a:solidFill>
                  <a:srgbClr val="7B8188"/>
                </a:solidFill>
                <a:latin typeface="Helvetica Neue"/>
                <a:ea typeface="Helvetica Neue"/>
                <a:cs typeface="Helvetica Neue"/>
              </a:rPr>
              <a:t>Merging removes the adapter’s extra inference operations.</a:t>
            </a:r>
          </a:p>
        </p:txBody>
      </p:sp>
    </p:spTree>
    <p:extLst>
      <p:ext uri="{BB962C8B-B14F-4D97-AF65-F5344CB8AC3E}">
        <p14:creationId xmlns:p14="http://schemas.microsoft.com/office/powerpoint/2010/main" val="546221724"/>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2026-09-16T12:23:51.8870000Z</dcterms:created>
  <dcterms:modified xsi:type="dcterms:W3CDTF">2026-09-16T12:23:51.8870000Z</dcterms:modified>
</coreProperties>
</file>