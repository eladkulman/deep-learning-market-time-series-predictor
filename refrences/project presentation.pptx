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Canva Sans Bold" charset="1" panose="020B0803030501040103"/>
      <p:regular r:id="rId28"/>
    </p:embeddedFont>
    <p:embeddedFont>
      <p:font typeface="Canva Sans" charset="1" panose="020B05030305010401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1537" y="1921058"/>
            <a:ext cx="15700841" cy="2372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6"/>
              </a:lnSpc>
              <a:spcBef>
                <a:spcPct val="0"/>
              </a:spcBef>
            </a:pPr>
            <a:r>
              <a:rPr lang="en-US" b="true" sz="685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 news impr</a:t>
            </a:r>
            <a:r>
              <a:rPr lang="en-US" b="true" sz="685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 Nasdaq 100 forecasts?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07041" y="5209312"/>
            <a:ext cx="6502301" cy="17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Deep Learning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Group 13, Tel Aviv University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Tom Weitman and Elad Kulman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4850" y="221435"/>
            <a:ext cx="3914701" cy="646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b="true" sz="37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41953" y="403333"/>
            <a:ext cx="5604094" cy="139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44"/>
              </a:lnSpc>
              <a:spcBef>
                <a:spcPct val="0"/>
              </a:spcBef>
            </a:pPr>
            <a:r>
              <a:rPr lang="en-US" b="true" sz="824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</a:t>
            </a:r>
            <a:r>
              <a:rPr lang="en-US" b="true" sz="824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otivation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4657" y="2242001"/>
            <a:ext cx="16998685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Nasdaq-100 tracks </a:t>
            </a: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100 large non-financial companies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including well-known companies like Apple, Microsoft, Nvidia, Amazon, and Meta</a:t>
            </a:r>
          </a:p>
        </p:txBody>
      </p:sp>
      <p:sp>
        <p:nvSpPr>
          <p:cNvPr name="AutoShape 4" id="4"/>
          <p:cNvSpPr/>
          <p:nvPr/>
        </p:nvSpPr>
        <p:spPr>
          <a:xfrm>
            <a:off x="9144000" y="3484696"/>
            <a:ext cx="0" cy="916235"/>
          </a:xfrm>
          <a:prstGeom prst="line">
            <a:avLst/>
          </a:prstGeom>
          <a:ln cap="flat" w="1047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" id="5"/>
          <p:cNvSpPr txBox="true"/>
          <p:nvPr/>
        </p:nvSpPr>
        <p:spPr>
          <a:xfrm rot="0">
            <a:off x="644657" y="4477130"/>
            <a:ext cx="17084251" cy="1114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2"/>
              </a:lnSpc>
              <a:spcBef>
                <a:spcPct val="0"/>
              </a:spcBef>
            </a:pPr>
            <a:r>
              <a:rPr lang="en-US" b="true" sz="3216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Many factors</a:t>
            </a:r>
            <a:r>
              <a:rPr lang="en-US" sz="32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influence the index</a:t>
            </a:r>
          </a:p>
          <a:p>
            <a:pPr algn="ctr">
              <a:lnSpc>
                <a:spcPts val="4502"/>
              </a:lnSpc>
              <a:spcBef>
                <a:spcPct val="0"/>
              </a:spcBef>
            </a:pPr>
            <a:r>
              <a:rPr lang="en-US" sz="3216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(Actual correlation are unknown and constantly changes 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4657" y="6900664"/>
            <a:ext cx="1699868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News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ay contain </a:t>
            </a: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useful signals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about these movements</a:t>
            </a:r>
          </a:p>
        </p:txBody>
      </p:sp>
      <p:sp>
        <p:nvSpPr>
          <p:cNvPr name="AutoShape 7" id="7"/>
          <p:cNvSpPr/>
          <p:nvPr/>
        </p:nvSpPr>
        <p:spPr>
          <a:xfrm>
            <a:off x="9144000" y="5898704"/>
            <a:ext cx="0" cy="916235"/>
          </a:xfrm>
          <a:prstGeom prst="line">
            <a:avLst/>
          </a:prstGeom>
          <a:ln cap="flat" w="1047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8" id="8"/>
          <p:cNvSpPr txBox="true"/>
          <p:nvPr/>
        </p:nvSpPr>
        <p:spPr>
          <a:xfrm rot="0">
            <a:off x="644657" y="8583343"/>
            <a:ext cx="16998685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Can a </a:t>
            </a: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deep</a:t>
            </a: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-learning model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understand and use these relationships?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AutoShape 9" id="9"/>
          <p:cNvSpPr/>
          <p:nvPr/>
        </p:nvSpPr>
        <p:spPr>
          <a:xfrm>
            <a:off x="9144000" y="7581384"/>
            <a:ext cx="0" cy="916235"/>
          </a:xfrm>
          <a:prstGeom prst="line">
            <a:avLst/>
          </a:prstGeom>
          <a:ln cap="flat" w="1047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08913" y="403333"/>
            <a:ext cx="6870175" cy="139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44"/>
              </a:lnSpc>
              <a:spcBef>
                <a:spcPct val="0"/>
              </a:spcBef>
            </a:pPr>
            <a:r>
              <a:rPr lang="en-US" b="true" sz="824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Existing 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12053" y="3068910"/>
            <a:ext cx="17675947" cy="50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2018–2022: </a:t>
            </a: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LSTM/GRU, CNN-LSTM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attention-based recurrent models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dominated financial forecasting.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2021–2024: </a:t>
            </a: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Transformers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and </a:t>
            </a: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specialized time-series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architectures arrived: TFT, Informer/Autoformer, PatchTST, TimesNet, iTransformer and TimeMixer.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2024–2026: The field moved toward </a:t>
            </a: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time-series foundation models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such as Chronos, TimesFM and Moirai, along with finance-specific pretraining, </a:t>
            </a: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graph neural networks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text/news models such as FinBERT, regime-aware models and probabilistic forecasting.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98079" y="3058960"/>
            <a:ext cx="11486295" cy="6934721"/>
          </a:xfrm>
          <a:custGeom>
            <a:avLst/>
            <a:gdLst/>
            <a:ahLst/>
            <a:cxnLst/>
            <a:rect r="r" b="b" t="t" l="l"/>
            <a:pathLst>
              <a:path h="6934721" w="11486295">
                <a:moveTo>
                  <a:pt x="0" y="0"/>
                </a:moveTo>
                <a:lnTo>
                  <a:pt x="11486294" y="0"/>
                </a:lnTo>
                <a:lnTo>
                  <a:pt x="11486294" y="6934721"/>
                </a:lnTo>
                <a:lnTo>
                  <a:pt x="0" y="69347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939" r="0" b="-28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03627" y="403333"/>
            <a:ext cx="9880747" cy="139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44"/>
              </a:lnSpc>
              <a:spcBef>
                <a:spcPct val="0"/>
              </a:spcBef>
            </a:pPr>
            <a:r>
              <a:rPr lang="en-US" b="true" sz="824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</a:t>
            </a:r>
            <a:r>
              <a:rPr lang="en-US" b="true" sz="824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ime Series Models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87605" y="2176409"/>
            <a:ext cx="13907243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sequence of observations recorded over time  | Order matters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1583" y="2693077"/>
            <a:ext cx="12544833" cy="331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20422" indent="-410211" lvl="1">
              <a:lnSpc>
                <a:spcPts val="53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pretrained t</a:t>
            </a: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ime-series foundation model</a:t>
            </a:r>
          </a:p>
          <a:p>
            <a:pPr algn="just" marL="820422" indent="-410211" lvl="1">
              <a:lnSpc>
                <a:spcPts val="53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Supports additional inputs</a:t>
            </a:r>
          </a:p>
          <a:p>
            <a:pPr algn="just" marL="820422" indent="-410211" lvl="1">
              <a:lnSpc>
                <a:spcPts val="53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Can be efficiently fine-tuned with LoRA</a:t>
            </a:r>
          </a:p>
          <a:p>
            <a:pPr algn="just" marL="820422" indent="-410211" lvl="1">
              <a:lnSpc>
                <a:spcPts val="53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Open source</a:t>
            </a:r>
          </a:p>
          <a:p>
            <a:pPr algn="just" marL="820422" indent="-410211" lvl="1">
              <a:lnSpc>
                <a:spcPts val="532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Pretrained with various 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530229" y="403333"/>
            <a:ext cx="5227543" cy="139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44"/>
              </a:lnSpc>
              <a:spcBef>
                <a:spcPct val="0"/>
              </a:spcBef>
            </a:pPr>
            <a:r>
              <a:rPr lang="en-US" b="true" sz="824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</a:t>
            </a:r>
            <a:r>
              <a:rPr lang="en-US" b="true" sz="824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ronos-2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295169" y="6657177"/>
            <a:ext cx="5697662" cy="1979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16"/>
              </a:lnSpc>
              <a:spcBef>
                <a:spcPct val="0"/>
              </a:spcBef>
            </a:pPr>
            <a:r>
              <a:rPr lang="en-US" b="true" sz="3797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119.5M base parameters</a:t>
            </a:r>
          </a:p>
          <a:p>
            <a:pPr algn="ctr">
              <a:lnSpc>
                <a:spcPts val="5316"/>
              </a:lnSpc>
              <a:spcBef>
                <a:spcPct val="0"/>
              </a:spcBef>
            </a:pPr>
            <a:r>
              <a:rPr lang="en-US" b="true" sz="3797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512-session context</a:t>
            </a:r>
          </a:p>
          <a:p>
            <a:pPr algn="ctr">
              <a:lnSpc>
                <a:spcPts val="5316"/>
              </a:lnSpc>
              <a:spcBef>
                <a:spcPct val="0"/>
              </a:spcBef>
            </a:pPr>
            <a:r>
              <a:rPr lang="en-US" b="true" sz="3797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21 forecast quantiles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73402" y="403333"/>
            <a:ext cx="10541195" cy="139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44"/>
              </a:lnSpc>
              <a:spcBef>
                <a:spcPct val="0"/>
              </a:spcBef>
            </a:pPr>
            <a:r>
              <a:rPr lang="en-US" b="true" sz="824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General Market Data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13232" y="2182533"/>
            <a:ext cx="14698785" cy="50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4" indent="-345442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QQQ history: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Returns, overnight gaps, volume, momentum, and volatility.</a:t>
            </a:r>
          </a:p>
          <a:p>
            <a:pPr algn="l" marL="690884" indent="-345442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Related markets: 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Nasdaq volatility (VXN), Treasury bonds (TLT), and corporate bonds (HYG).</a:t>
            </a:r>
          </a:p>
          <a:p>
            <a:pPr algn="l" marL="690884" indent="-345442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Macroeconomics: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Interest rates, yield curves, real yields, and inflation.</a:t>
            </a:r>
          </a:p>
          <a:p>
            <a:pPr algn="l" marL="690884" indent="-345442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Financial </a:t>
            </a: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Events: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Fed meetings, inflation releases, employment reports, and options expiration.</a:t>
            </a:r>
          </a:p>
          <a:p>
            <a:pPr algn="l" marL="690884" indent="-345442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</a:t>
            </a: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xternal signals: </a:t>
            </a:r>
            <a:r>
              <a:rPr lang="en-US" sz="32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Economic-policy uncertainty, Fed statement tone, and SEC filing activity.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02929" y="403333"/>
            <a:ext cx="9682142" cy="139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44"/>
              </a:lnSpc>
              <a:spcBef>
                <a:spcPct val="0"/>
              </a:spcBef>
            </a:pPr>
            <a:r>
              <a:rPr lang="en-US" b="true" sz="824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News Data - GDELT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04945" y="2014833"/>
            <a:ext cx="13005345" cy="823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5898" indent="-362949" lvl="1">
              <a:lnSpc>
                <a:spcPts val="4707"/>
              </a:lnSpc>
              <a:buFont typeface="Arial"/>
              <a:buChar char="•"/>
            </a:pPr>
            <a:r>
              <a:rPr lang="en-US" sz="33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 free open platform that tracks global news and converts it into data on topics, events, and tone.</a:t>
            </a:r>
          </a:p>
          <a:p>
            <a:pPr algn="l">
              <a:lnSpc>
                <a:spcPts val="4707"/>
              </a:lnSpc>
            </a:pPr>
          </a:p>
          <a:p>
            <a:pPr algn="l" marL="725898" indent="-362949" lvl="1">
              <a:lnSpc>
                <a:spcPts val="4707"/>
              </a:lnSpc>
              <a:buFont typeface="Arial"/>
              <a:buChar char="•"/>
            </a:pPr>
            <a:r>
              <a:rPr lang="en-US" sz="33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GDELT delivers news not just as text, but as structured daily numbers that a model can use directly.</a:t>
            </a:r>
          </a:p>
          <a:p>
            <a:pPr algn="l">
              <a:lnSpc>
                <a:spcPts val="4707"/>
              </a:lnSpc>
            </a:pPr>
          </a:p>
          <a:p>
            <a:pPr algn="l">
              <a:lnSpc>
                <a:spcPts val="4707"/>
              </a:lnSpc>
            </a:pPr>
            <a:r>
              <a:rPr lang="en-US" sz="33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focus on six topics:</a:t>
            </a:r>
          </a:p>
          <a:p>
            <a:pPr algn="l" marL="704309" indent="-352154" lvl="1">
              <a:lnSpc>
                <a:spcPts val="4567"/>
              </a:lnSpc>
              <a:buFont typeface="Arial"/>
              <a:buChar char="•"/>
            </a:pPr>
            <a:r>
              <a:rPr lang="en-US" sz="32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</a:t>
            </a:r>
          </a:p>
          <a:p>
            <a:pPr algn="l" marL="725898" indent="-362949" lvl="1">
              <a:lnSpc>
                <a:spcPts val="4707"/>
              </a:lnSpc>
              <a:buFont typeface="Arial"/>
              <a:buChar char="•"/>
            </a:pPr>
            <a:r>
              <a:rPr lang="en-US" sz="33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Semiconductors</a:t>
            </a:r>
          </a:p>
          <a:p>
            <a:pPr algn="l" marL="725898" indent="-362949" lvl="1">
              <a:lnSpc>
                <a:spcPts val="4707"/>
              </a:lnSpc>
              <a:buFont typeface="Arial"/>
              <a:buChar char="•"/>
            </a:pPr>
            <a:r>
              <a:rPr lang="en-US" sz="33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Federal Reserve policy</a:t>
            </a:r>
          </a:p>
          <a:p>
            <a:pPr algn="l" marL="725898" indent="-362949" lvl="1">
              <a:lnSpc>
                <a:spcPts val="4707"/>
              </a:lnSpc>
              <a:buFont typeface="Arial"/>
              <a:buChar char="•"/>
            </a:pPr>
            <a:r>
              <a:rPr lang="en-US" sz="33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Inflation</a:t>
            </a:r>
          </a:p>
          <a:p>
            <a:pPr algn="l" marL="725898" indent="-362949" lvl="1">
              <a:lnSpc>
                <a:spcPts val="4707"/>
              </a:lnSpc>
              <a:buFont typeface="Arial"/>
              <a:buChar char="•"/>
            </a:pPr>
            <a:r>
              <a:rPr lang="en-US" sz="33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big-tech earnings</a:t>
            </a:r>
          </a:p>
          <a:p>
            <a:pPr algn="l" marL="725898" indent="-362949" lvl="1">
              <a:lnSpc>
                <a:spcPts val="4707"/>
              </a:lnSpc>
              <a:buFont typeface="Arial"/>
              <a:buChar char="•"/>
            </a:pPr>
            <a:r>
              <a:rPr lang="en-US" sz="336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recession</a:t>
            </a:r>
          </a:p>
          <a:p>
            <a:pPr algn="l">
              <a:lnSpc>
                <a:spcPts val="4707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01885" y="4157170"/>
            <a:ext cx="13084230" cy="5519910"/>
          </a:xfrm>
          <a:custGeom>
            <a:avLst/>
            <a:gdLst/>
            <a:ahLst/>
            <a:cxnLst/>
            <a:rect r="r" b="b" t="t" l="l"/>
            <a:pathLst>
              <a:path h="5519910" w="13084230">
                <a:moveTo>
                  <a:pt x="0" y="0"/>
                </a:moveTo>
                <a:lnTo>
                  <a:pt x="13084230" y="0"/>
                </a:lnTo>
                <a:lnTo>
                  <a:pt x="13084230" y="5519910"/>
                </a:lnTo>
                <a:lnTo>
                  <a:pt x="0" y="5519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45526" y="403333"/>
            <a:ext cx="14596948" cy="139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44"/>
              </a:lnSpc>
              <a:spcBef>
                <a:spcPct val="0"/>
              </a:spcBef>
            </a:pPr>
            <a:r>
              <a:rPr lang="en-US" b="true" sz="824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LoRA - Low-Rank Adaptation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80795" y="2181426"/>
            <a:ext cx="15326410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fine-tune a large pretrained model without updating all of its weights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38681" y="403333"/>
            <a:ext cx="16210639" cy="1395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44"/>
              </a:lnSpc>
              <a:spcBef>
                <a:spcPct val="0"/>
              </a:spcBef>
            </a:pPr>
            <a:r>
              <a:rPr lang="en-US" b="true" sz="824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Train</a:t>
            </a:r>
            <a:r>
              <a:rPr lang="en-US" b="true" sz="824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 and Evaluation Process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4657" y="2519259"/>
            <a:ext cx="16998685" cy="222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Two experiment rounds:</a:t>
            </a:r>
          </a:p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 initial 18-run source comparison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Followed by 108 fine-tuning runs covering four evaluation years and three random seeds.</a:t>
            </a:r>
          </a:p>
        </p:txBody>
      </p:sp>
      <p:sp>
        <p:nvSpPr>
          <p:cNvPr name="AutoShape 4" id="4"/>
          <p:cNvSpPr/>
          <p:nvPr/>
        </p:nvSpPr>
        <p:spPr>
          <a:xfrm>
            <a:off x="9144000" y="5026357"/>
            <a:ext cx="0" cy="916235"/>
          </a:xfrm>
          <a:prstGeom prst="line">
            <a:avLst/>
          </a:prstGeom>
          <a:ln cap="flat" w="104775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" id="5"/>
          <p:cNvSpPr txBox="true"/>
          <p:nvPr/>
        </p:nvSpPr>
        <p:spPr>
          <a:xfrm rot="0">
            <a:off x="0" y="6171192"/>
            <a:ext cx="17843269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After training: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 freeze the weights, forecast five separate daily returns at each origin, and advance five trading sessions.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03278" y="422383"/>
            <a:ext cx="10481444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we score</a:t>
            </a:r>
            <a:r>
              <a:rPr lang="en-US" b="true" sz="6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 forecast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73625" y="2455025"/>
            <a:ext cx="14740750" cy="5033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model outputs 21 quantiles for each of the next five days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Weighted quantile loss: rewards the whole distribution, lower is better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Coverage: the 10 to 90 percent band should contain 80 percent of outcomes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Direction is compared with “always up”, not with 50 percent: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 2025, always-up scores 57 percent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88904" y="6624115"/>
            <a:ext cx="9310191" cy="2103927"/>
          </a:xfrm>
          <a:custGeom>
            <a:avLst/>
            <a:gdLst/>
            <a:ahLst/>
            <a:cxnLst/>
            <a:rect r="r" b="b" t="t" l="l"/>
            <a:pathLst>
              <a:path h="2103927" w="9310191">
                <a:moveTo>
                  <a:pt x="0" y="0"/>
                </a:moveTo>
                <a:lnTo>
                  <a:pt x="9310192" y="0"/>
                </a:lnTo>
                <a:lnTo>
                  <a:pt x="9310192" y="2103927"/>
                </a:lnTo>
                <a:lnTo>
                  <a:pt x="0" y="21039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77582" y="561637"/>
            <a:ext cx="6732836" cy="1170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Fine Tune Run 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42628" y="2095332"/>
            <a:ext cx="17245372" cy="3489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6051" indent="-268026" lvl="1">
              <a:lnSpc>
                <a:spcPts val="3476"/>
              </a:lnSpc>
              <a:buFont typeface="Arial"/>
              <a:buChar char="•"/>
            </a:pPr>
            <a:r>
              <a:rPr lang="en-US" b="true" sz="24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model receives observations through the previous QQQ close and produces forcast for</a:t>
            </a:r>
            <a:r>
              <a:rPr lang="en-US" b="true" sz="24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b="true" sz="24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each of the next five trading-day returns. </a:t>
            </a:r>
          </a:p>
          <a:p>
            <a:pPr algn="l" marL="536051" indent="-268026" lvl="1">
              <a:lnSpc>
                <a:spcPts val="3476"/>
              </a:lnSpc>
              <a:buFont typeface="Arial"/>
              <a:buChar char="•"/>
            </a:pPr>
            <a:r>
              <a:rPr lang="en-US" b="true" sz="24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After those five realized sessions, the origin advances by five sessions. Fifty non-overlapping origins therefore score 250 daily outcomes; the final two sessions of the 252-session allocation cannot form a complete block</a:t>
            </a:r>
          </a:p>
          <a:p>
            <a:pPr algn="l" marL="536051" indent="-268026" lvl="1">
              <a:lnSpc>
                <a:spcPts val="3476"/>
              </a:lnSpc>
              <a:buFont typeface="Arial"/>
              <a:buChar char="•"/>
            </a:pPr>
            <a:r>
              <a:rPr lang="en-US" b="true" sz="24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Fine tune with different news source sepertly and compare to control</a:t>
            </a:r>
          </a:p>
          <a:p>
            <a:pPr algn="l" marL="536051" indent="-268026" lvl="1">
              <a:lnSpc>
                <a:spcPts val="3476"/>
              </a:lnSpc>
              <a:buFont typeface="Arial"/>
              <a:buChar char="•"/>
            </a:pPr>
            <a:r>
              <a:rPr lang="en-US" b="true" sz="2482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Check both direction and index price predictions</a:t>
            </a:r>
          </a:p>
          <a:p>
            <a:pPr algn="l">
              <a:lnSpc>
                <a:spcPts val="347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58279" y="2285031"/>
            <a:ext cx="9971442" cy="7732955"/>
          </a:xfrm>
          <a:custGeom>
            <a:avLst/>
            <a:gdLst/>
            <a:ahLst/>
            <a:cxnLst/>
            <a:rect r="r" b="b" t="t" l="l"/>
            <a:pathLst>
              <a:path h="7732955" w="9971442">
                <a:moveTo>
                  <a:pt x="0" y="0"/>
                </a:moveTo>
                <a:lnTo>
                  <a:pt x="9971442" y="0"/>
                </a:lnTo>
                <a:lnTo>
                  <a:pt x="9971442" y="7732956"/>
                </a:lnTo>
                <a:lnTo>
                  <a:pt x="0" y="77329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750607" y="407380"/>
            <a:ext cx="6786787" cy="1462346"/>
          </a:xfrm>
          <a:custGeom>
            <a:avLst/>
            <a:gdLst/>
            <a:ahLst/>
            <a:cxnLst/>
            <a:rect r="r" b="b" t="t" l="l"/>
            <a:pathLst>
              <a:path h="1462346" w="6786787">
                <a:moveTo>
                  <a:pt x="0" y="0"/>
                </a:moveTo>
                <a:lnTo>
                  <a:pt x="6786786" y="0"/>
                </a:lnTo>
                <a:lnTo>
                  <a:pt x="6786786" y="1462346"/>
                </a:lnTo>
                <a:lnTo>
                  <a:pt x="0" y="14623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75075" y="2415219"/>
            <a:ext cx="10537850" cy="880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0"/>
              </a:lnSpc>
              <a:spcBef>
                <a:spcPct val="0"/>
              </a:spcBef>
            </a:pPr>
            <a:r>
              <a:rPr lang="en-US" b="true" sz="5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How we find</a:t>
            </a:r>
            <a:r>
              <a:rPr lang="en-US" b="true" sz="5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what the model uses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73625" y="3990653"/>
            <a:ext cx="14740750" cy="3347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Take one input. Replace its 512 days with the same input from a different random week. Forecast again.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Forecast got worse → the model was using it</a:t>
            </a:r>
          </a:p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change → ignored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Forecast got better → the input was misleading it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76503" y="561637"/>
            <a:ext cx="6734994" cy="1170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  <a:spcBef>
                <a:spcPct val="0"/>
              </a:spcBef>
            </a:pPr>
            <a:r>
              <a:rPr lang="en-US" b="true" sz="6800">
                <a:solidFill>
                  <a:srgbClr val="1800A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Fine Tune Run B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23070" y="422383"/>
            <a:ext cx="15241860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42 inputs - One surpris</a:t>
            </a:r>
            <a:r>
              <a:rPr lang="en-US" b="true" sz="69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 standout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377803" y="2100300"/>
            <a:ext cx="11532394" cy="2785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News signals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Mostly close to zero → little evidence of meaningful use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 u="sng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VXN change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Large negative effect → Removing it improves the forecast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0454" y="6433223"/>
            <a:ext cx="15467092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pretrained model doesn't strongly exploit our news signals.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Instead, it reacts strongly to volatility.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88941" y="0"/>
            <a:ext cx="12110119" cy="10151891"/>
          </a:xfrm>
          <a:custGeom>
            <a:avLst/>
            <a:gdLst/>
            <a:ahLst/>
            <a:cxnLst/>
            <a:rect r="r" b="b" t="t" l="l"/>
            <a:pathLst>
              <a:path h="10151891" w="12110119">
                <a:moveTo>
                  <a:pt x="0" y="0"/>
                </a:moveTo>
                <a:lnTo>
                  <a:pt x="12110118" y="0"/>
                </a:lnTo>
                <a:lnTo>
                  <a:pt x="12110118" y="10151891"/>
                </a:lnTo>
                <a:lnTo>
                  <a:pt x="0" y="101518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78" t="-8554" r="0" b="-93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5747" y="1113145"/>
            <a:ext cx="16696506" cy="100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b="true" sz="5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Does fine-tun</a:t>
            </a:r>
            <a:r>
              <a:rPr lang="en-US" b="true" sz="5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 change what the model uses?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485134" y="2858439"/>
            <a:ext cx="13317732" cy="393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5"/>
              </a:lnSpc>
            </a:pPr>
            <a:r>
              <a:rPr lang="en-US" sz="3753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 model's input-usage pattern stays remarkably similar</a:t>
            </a:r>
          </a:p>
          <a:p>
            <a:pPr algn="ctr">
              <a:lnSpc>
                <a:spcPts val="5255"/>
              </a:lnSpc>
              <a:spcBef>
                <a:spcPct val="0"/>
              </a:spcBef>
            </a:pPr>
            <a:r>
              <a:rPr lang="en-US" b="true" sz="3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0.91</a:t>
            </a:r>
            <a:r>
              <a:rPr lang="en-US" b="true" sz="3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correlation</a:t>
            </a:r>
          </a:p>
          <a:p>
            <a:pPr algn="ctr">
              <a:lnSpc>
                <a:spcPts val="5255"/>
              </a:lnSpc>
              <a:spcBef>
                <a:spcPct val="0"/>
              </a:spcBef>
            </a:pPr>
          </a:p>
          <a:p>
            <a:pPr algn="ctr">
              <a:lnSpc>
                <a:spcPts val="5255"/>
              </a:lnSpc>
              <a:spcBef>
                <a:spcPct val="0"/>
              </a:spcBef>
            </a:pPr>
            <a:r>
              <a:rPr lang="en-US" b="true" sz="3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Then underneath:</a:t>
            </a:r>
          </a:p>
          <a:p>
            <a:pPr algn="ctr">
              <a:lnSpc>
                <a:spcPts val="5255"/>
              </a:lnSpc>
              <a:spcBef>
                <a:spcPct val="0"/>
              </a:spcBef>
            </a:pPr>
            <a:r>
              <a:rPr lang="en-US" b="true" sz="3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VXN: still misleading</a:t>
            </a:r>
          </a:p>
          <a:p>
            <a:pPr algn="ctr">
              <a:lnSpc>
                <a:spcPts val="5255"/>
              </a:lnSpc>
              <a:spcBef>
                <a:spcPct val="0"/>
              </a:spcBef>
            </a:pPr>
            <a:r>
              <a:rPr lang="en-US" b="true" sz="3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News: little evidence of meaningful use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86939" y="697896"/>
            <a:ext cx="13714123" cy="8891208"/>
          </a:xfrm>
          <a:custGeom>
            <a:avLst/>
            <a:gdLst/>
            <a:ahLst/>
            <a:cxnLst/>
            <a:rect r="r" b="b" t="t" l="l"/>
            <a:pathLst>
              <a:path h="8891208" w="13714123">
                <a:moveTo>
                  <a:pt x="0" y="0"/>
                </a:moveTo>
                <a:lnTo>
                  <a:pt x="13714122" y="0"/>
                </a:lnTo>
                <a:lnTo>
                  <a:pt x="13714122" y="8891208"/>
                </a:lnTo>
                <a:lnTo>
                  <a:pt x="0" y="88912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224" r="-54929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03166" y="431908"/>
            <a:ext cx="11081668" cy="100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b="true" sz="5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What does fine-tun</a:t>
            </a:r>
            <a:r>
              <a:rPr lang="en-US" b="true" sz="5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ing change?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63217" y="2100300"/>
            <a:ext cx="14561567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Fine-tuning helps when markets are volatile - but hurts when they're calm</a:t>
            </a:r>
          </a:p>
          <a:p>
            <a:pPr algn="ctr">
              <a:lnSpc>
                <a:spcPts val="4480"/>
              </a:lnSpc>
            </a:pPr>
          </a:p>
          <a:p>
            <a:pPr algn="ctr">
              <a:lnSpc>
                <a:spcPts val="448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493292" y="3111424"/>
            <a:ext cx="11301415" cy="6831016"/>
          </a:xfrm>
          <a:custGeom>
            <a:avLst/>
            <a:gdLst/>
            <a:ahLst/>
            <a:cxnLst/>
            <a:rect r="r" b="b" t="t" l="l"/>
            <a:pathLst>
              <a:path h="6831016" w="11301415">
                <a:moveTo>
                  <a:pt x="0" y="0"/>
                </a:moveTo>
                <a:lnTo>
                  <a:pt x="11301416" y="0"/>
                </a:lnTo>
                <a:lnTo>
                  <a:pt x="11301416" y="6831016"/>
                </a:lnTo>
                <a:lnTo>
                  <a:pt x="0" y="68310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405" r="-69855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68850" y="230456"/>
            <a:ext cx="8380275" cy="9786302"/>
          </a:xfrm>
          <a:custGeom>
            <a:avLst/>
            <a:gdLst/>
            <a:ahLst/>
            <a:cxnLst/>
            <a:rect r="r" b="b" t="t" l="l"/>
            <a:pathLst>
              <a:path h="9786302" w="8380275">
                <a:moveTo>
                  <a:pt x="0" y="0"/>
                </a:moveTo>
                <a:lnTo>
                  <a:pt x="8380275" y="0"/>
                </a:lnTo>
                <a:lnTo>
                  <a:pt x="8380275" y="9786302"/>
                </a:lnTo>
                <a:lnTo>
                  <a:pt x="0" y="9786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0197" t="-10266" r="0" b="-406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39818" y="431908"/>
            <a:ext cx="4408363" cy="100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b="true" sz="5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</a:t>
            </a:r>
            <a:r>
              <a:rPr lang="en-US" b="true" sz="5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clusions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30046" y="2307439"/>
            <a:ext cx="15027908" cy="4648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0428" indent="-405214" lvl="1">
              <a:lnSpc>
                <a:spcPts val="5255"/>
              </a:lnSpc>
              <a:buFont typeface="Arial"/>
              <a:buChar char="•"/>
            </a:pPr>
            <a:r>
              <a:rPr lang="en-US" b="true" sz="3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 particular news source improved Nasdaq-100 forcasting</a:t>
            </a:r>
          </a:p>
          <a:p>
            <a:pPr algn="l">
              <a:lnSpc>
                <a:spcPts val="5255"/>
              </a:lnSpc>
            </a:pPr>
          </a:p>
          <a:p>
            <a:pPr algn="l" marL="810428" indent="-405214" lvl="1">
              <a:lnSpc>
                <a:spcPts val="5255"/>
              </a:lnSpc>
              <a:buFont typeface="Arial"/>
              <a:buChar char="•"/>
            </a:pPr>
            <a:r>
              <a:rPr lang="en-US" b="true" sz="3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Fine-tuning learns the scale of returns, not the meaning of the inputs: it widens the bands</a:t>
            </a:r>
          </a:p>
          <a:p>
            <a:pPr algn="l">
              <a:lnSpc>
                <a:spcPts val="5255"/>
              </a:lnSpc>
            </a:pPr>
          </a:p>
          <a:p>
            <a:pPr algn="l" marL="810428" indent="-405214" lvl="1">
              <a:lnSpc>
                <a:spcPts val="5255"/>
              </a:lnSpc>
              <a:buFont typeface="Arial"/>
              <a:buChar char="•"/>
            </a:pPr>
            <a:r>
              <a:rPr lang="en-US" b="true" sz="3753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Fast market inputs like the VXN change hurt the pretrained model, and fine-tuning does not fix that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CFE2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95554" y="431908"/>
            <a:ext cx="4296891" cy="100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  <a:spcBef>
                <a:spcPct val="0"/>
              </a:spcBef>
            </a:pPr>
            <a:r>
              <a:rPr lang="en-US" b="true" sz="5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</a:t>
            </a:r>
            <a:r>
              <a:rPr lang="en-US" b="true" sz="58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uture work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93950" y="2590159"/>
            <a:ext cx="16394050" cy="447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Full </a:t>
            </a: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fine-tuning with a larger budget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Longer news history and richer text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 how we represent news.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Compare news volume and average tone with richer features, such as unexpected changes in coverage, headline novelty, or relevance to major Nasdaq-100 companies.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</a:p>
          <a:p>
            <a:pPr algn="ctr">
              <a:lnSpc>
                <a:spcPts val="448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DAHVXYtwT5A</dc:identifier>
  <dcterms:modified xsi:type="dcterms:W3CDTF">2011-08-01T06:04:30Z</dcterms:modified>
  <cp:revision>1</cp:revision>
  <dc:title>Terms</dc:title>
</cp:coreProperties>
</file>